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589277-44B0-4BA4-9BBA-7639F290E0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415335-58A2-49A9-9AA0-AB1D68BD74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DB8522-14C0-4665-91ED-E14EC71A1D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363FB8-C8D5-4763-B5B9-6B26C8DD7E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BD6D31-E2EA-416F-85C6-342C7EA299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70ECF9-81B2-409A-872D-BF6C2B36A3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D60E6D-88C6-454F-B172-6402F45060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780D37-BE4D-4859-9BB1-64EDC1DD6C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1DFD13-DDC2-44CD-B26D-2D17F34CE7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CA57A-33B0-4816-A7FA-4B0F4EFE12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29678D-1860-4100-89C0-F29C0B4F15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DFD830-F3DC-45B5-A087-33ED90A948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9EB744E-4895-4DBE-B42A-C22F62B2CD9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D4AD5A7-49C4-4BDD-AB0E-2D176C647079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F232D58-8220-4CE2-851A-7E010DA39E7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32FE7E8-694E-4577-BC18-A4C2DD56A07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DFB91FA-8982-4DC1-83D5-0836608B048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0A9FD6A-2CCD-4403-8C1B-8667F13340D2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EB0EB10-9920-4330-96B7-3C3F1E0CB847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F42095D-3014-4713-94DB-42818A2078E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5E0A3FA-70E0-4949-B25F-3595254A0337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B241BB7-F685-4D39-9B95-79195ABAC665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5A3B3EA-557F-4D1D-B30D-361304C88C0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87DABC6-8B83-4188-9CD3-63C8E5B22C2E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CCBA7-1A02-4187-B661-89E76D6658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448C48-F572-4464-A1A4-DA2A279B5C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B7FCBD-6DFB-412F-B5B1-44B77AFA9B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BBB871-90A7-4015-A892-21B2BF3F72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BBC7E6-B989-4E8A-BFB7-536648AFA3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15440" y="593280"/>
            <a:ext cx="1136016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E875B9-C6F2-4532-86FE-F7BE1CA71E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804862-66D6-4E0B-AD10-F49AD6D23E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F07BA8-5894-4339-ACE0-913086ECA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F0D6F2-07F8-4D95-8DCC-D07FBFF936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6A5F02-3635-498E-907F-55E2FC41A2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D23CFD-34BB-4290-A159-734546149A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405DC8-AFBC-4C3C-AB43-982E9A412F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rgbClr val="455f51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CDF791D-1F37-44ED-8FAB-4608FC248931}" type="slidenum">
              <a:rPr b="0" lang="en-US" sz="1340" spc="-1" strike="noStrike">
                <a:solidFill>
                  <a:srgbClr val="455f51"/>
                </a:solidFill>
                <a:latin typeface="Arial"/>
                <a:ea typeface="Arial"/>
              </a:rPr>
              <a:t>2</a:t>
            </a:fld>
            <a:endParaRPr b="0" lang="en-US" sz="134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43" name="矩形 2"/>
          <p:cNvSpPr/>
          <p:nvPr/>
        </p:nvSpPr>
        <p:spPr>
          <a:xfrm>
            <a:off x="0" y="0"/>
            <a:ext cx="133560" cy="7934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矩形 3"/>
          <p:cNvSpPr/>
          <p:nvPr/>
        </p:nvSpPr>
        <p:spPr>
          <a:xfrm>
            <a:off x="123120" y="279720"/>
            <a:ext cx="245520" cy="793440"/>
          </a:xfrm>
          <a:prstGeom prst="rect">
            <a:avLst/>
          </a:prstGeom>
          <a:gradFill rotWithShape="0">
            <a:gsLst>
              <a:gs pos="0">
                <a:srgbClr val="029676"/>
              </a:gs>
              <a:gs pos="100000">
                <a:srgbClr val="71da9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40" spc="-1" strike="noStrike">
                <a:solidFill>
                  <a:srgbClr val="455f51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16FBEA7-B71F-4069-905E-E745A1AD1BC2}" type="slidenum">
              <a:rPr b="0" lang="en-US" sz="1340" spc="-1" strike="noStrike">
                <a:solidFill>
                  <a:srgbClr val="455f51"/>
                </a:solidFill>
                <a:latin typeface="Arial"/>
                <a:ea typeface="Arial"/>
              </a:rPr>
              <a:t>&lt;number&gt;</a:t>
            </a:fld>
            <a:endParaRPr b="0" lang="en-US" sz="134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圖片 2" descr=""/>
          <p:cNvPicPr/>
          <p:nvPr/>
        </p:nvPicPr>
        <p:blipFill>
          <a:blip r:embed="rId2"/>
          <a:stretch/>
        </p:blipFill>
        <p:spPr>
          <a:xfrm>
            <a:off x="10024560" y="154800"/>
            <a:ext cx="2003040" cy="454680"/>
          </a:xfrm>
          <a:prstGeom prst="rect">
            <a:avLst/>
          </a:prstGeom>
          <a:ln w="0">
            <a:noFill/>
          </a:ln>
        </p:spPr>
      </p:pic>
      <p:sp>
        <p:nvSpPr>
          <p:cNvPr id="85" name="bg object 16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6" name="bg object 17" descr=""/>
          <p:cNvPicPr/>
          <p:nvPr/>
        </p:nvPicPr>
        <p:blipFill>
          <a:blip r:embed="rId3"/>
          <a:stretch/>
        </p:blipFill>
        <p:spPr>
          <a:xfrm>
            <a:off x="7641000" y="5244120"/>
            <a:ext cx="4550400" cy="1613160"/>
          </a:xfrm>
          <a:prstGeom prst="rect">
            <a:avLst/>
          </a:prstGeom>
          <a:ln w="0">
            <a:noFill/>
          </a:ln>
        </p:spPr>
      </p:pic>
      <p:pic>
        <p:nvPicPr>
          <p:cNvPr id="87" name="bg object 18" descr=""/>
          <p:cNvPicPr/>
          <p:nvPr/>
        </p:nvPicPr>
        <p:blipFill>
          <a:blip r:embed="rId4"/>
          <a:stretch/>
        </p:blipFill>
        <p:spPr>
          <a:xfrm>
            <a:off x="10078560" y="34200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160" cy="7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6"/>
          </p:nvPr>
        </p:nvSpPr>
        <p:spPr>
          <a:xfrm>
            <a:off x="11296440" y="6217560"/>
            <a:ext cx="73080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marL="50760" algn="r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  <a:defRPr b="0" lang="en-US" sz="1000" spc="-35" strike="noStrike">
                <a:solidFill>
                  <a:srgbClr val="455f51"/>
                </a:solidFill>
                <a:latin typeface="Century Gothic"/>
                <a:ea typeface="Arial"/>
              </a:defRPr>
            </a:lvl1pPr>
          </a:lstStyle>
          <a:p>
            <a:pPr marL="50760" algn="r">
              <a:lnSpc>
                <a:spcPct val="100000"/>
              </a:lnSpc>
              <a:spcBef>
                <a:spcPts val="252"/>
              </a:spcBef>
              <a:buNone/>
              <a:tabLst>
                <a:tab algn="l" pos="0"/>
              </a:tabLst>
            </a:pPr>
            <a:fld id="{10428E70-9B6F-4C21-A8D6-722A0A44AB3B}" type="slidenum">
              <a:rPr b="0" lang="en-US" sz="1000" spc="-35" strike="noStrike">
                <a:solidFill>
                  <a:srgbClr val="455f51"/>
                </a:solidFill>
                <a:latin typeface="Century Gothic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dt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523880" y="1706040"/>
            <a:ext cx="9143280" cy="11570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algn="ctr">
              <a:lnSpc>
                <a:spcPct val="114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1" lang="zh-TW" sz="4400" spc="-1" strike="noStrike" cap="all">
                <a:solidFill>
                  <a:srgbClr val="349e81"/>
                </a:solidFill>
                <a:latin typeface="Microsoft YaHei"/>
                <a:ea typeface="Microsoft YaHei"/>
              </a:rPr>
              <a:t>衛福部次世代數位醫療平台計畫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1604160" y="419652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rIns="329040" tIns="91440" bIns="91440" anchor="b">
            <a:noAutofit/>
          </a:bodyPr>
          <a:p>
            <a:pPr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AI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問診機器人</a:t>
            </a:r>
            <a:endParaRPr b="0" lang="en-US" sz="2150" spc="-1" strike="noStrike">
              <a:latin typeface="Arial"/>
            </a:endParaRPr>
          </a:p>
          <a:p>
            <a:pPr algn="ctr">
              <a:lnSpc>
                <a:spcPct val="120000"/>
              </a:lnSpc>
              <a:spcBef>
                <a:spcPts val="541"/>
              </a:spcBef>
              <a:buNone/>
              <a:tabLst>
                <a:tab algn="l" pos="0"/>
              </a:tabLst>
            </a:pP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115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年 </a:t>
            </a: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9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月 </a:t>
            </a:r>
            <a:r>
              <a:rPr b="1" lang="en-US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1 </a:t>
            </a:r>
            <a:r>
              <a:rPr b="1" lang="zh-TW" sz="2150" spc="-1" strike="noStrike" cap="all">
                <a:solidFill>
                  <a:srgbClr val="000000"/>
                </a:solidFill>
                <a:latin typeface="Microsoft YaHei"/>
                <a:ea typeface="Microsoft YaHei"/>
              </a:rPr>
              <a:t>日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131" name="標題 1"/>
          <p:cNvSpPr/>
          <p:nvPr/>
        </p:nvSpPr>
        <p:spPr>
          <a:xfrm>
            <a:off x="1604160" y="2863800"/>
            <a:ext cx="9143280" cy="7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t">
            <a:noAutofit/>
          </a:bodyPr>
          <a:p>
            <a:pPr algn="ctr">
              <a:lnSpc>
                <a:spcPct val="114000"/>
              </a:lnSpc>
              <a:spcAft>
                <a:spcPts val="1599"/>
              </a:spcAft>
              <a:buNone/>
            </a:pPr>
            <a:r>
              <a:rPr b="1" lang="zh-TW" sz="3600" spc="-1" strike="noStrike" cap="all">
                <a:solidFill>
                  <a:srgbClr val="349e81"/>
                </a:solidFill>
                <a:latin typeface="Microsoft YaHei"/>
                <a:ea typeface="Microsoft YaHei"/>
              </a:rPr>
              <a:t>最新進度報告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EXECUTIVE SUMMARY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本期進度一頁總結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34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35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02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36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38" name=""/>
          <p:cNvSpPr/>
          <p:nvPr/>
        </p:nvSpPr>
        <p:spPr>
          <a:xfrm>
            <a:off x="450000" y="1188000"/>
            <a:ext cx="11070000" cy="5580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139" name=""/>
          <p:cNvSpPr txBox="1"/>
          <p:nvPr/>
        </p:nvSpPr>
        <p:spPr>
          <a:xfrm>
            <a:off x="666000" y="1304640"/>
            <a:ext cx="106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ffffff"/>
                </a:solidFill>
                <a:latin typeface="Microsoft YaHei"/>
              </a:rPr>
              <a:t>已建立「合成資料」端到端技術閉環</a:t>
            </a:r>
            <a:endParaRPr b="1" lang="en-US" sz="2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0" name=""/>
          <p:cNvSpPr/>
          <p:nvPr/>
        </p:nvSpPr>
        <p:spPr>
          <a:xfrm>
            <a:off x="450000" y="1936800"/>
            <a:ext cx="5400000" cy="113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41" name=""/>
          <p:cNvSpPr/>
          <p:nvPr/>
        </p:nvSpPr>
        <p:spPr>
          <a:xfrm>
            <a:off x="450000" y="1936800"/>
            <a:ext cx="64800" cy="1134000"/>
          </a:xfrm>
          <a:prstGeom prst="roundRect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142" name=""/>
          <p:cNvSpPr txBox="1"/>
          <p:nvPr/>
        </p:nvSpPr>
        <p:spPr>
          <a:xfrm>
            <a:off x="637200" y="2059200"/>
            <a:ext cx="509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病患入口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37200" y="2368800"/>
            <a:ext cx="509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SMART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選人、一次性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QR/code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、跨瀏覽器掃描與貼碼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fallback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44" name=""/>
          <p:cNvSpPr/>
          <p:nvPr/>
        </p:nvSpPr>
        <p:spPr>
          <a:xfrm>
            <a:off x="6066000" y="1936800"/>
            <a:ext cx="5400000" cy="113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45" name=""/>
          <p:cNvSpPr/>
          <p:nvPr/>
        </p:nvSpPr>
        <p:spPr>
          <a:xfrm>
            <a:off x="6066000" y="1936800"/>
            <a:ext cx="64800" cy="11340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46" name=""/>
          <p:cNvSpPr txBox="1"/>
          <p:nvPr/>
        </p:nvSpPr>
        <p:spPr>
          <a:xfrm>
            <a:off x="6253200" y="2059200"/>
            <a:ext cx="509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問診與報告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253200" y="2368800"/>
            <a:ext cx="509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固定順序問卷、文字／語音、本機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Avatar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；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RAG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證據支援摘要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48" name=""/>
          <p:cNvSpPr/>
          <p:nvPr/>
        </p:nvSpPr>
        <p:spPr>
          <a:xfrm>
            <a:off x="450000" y="3258000"/>
            <a:ext cx="5400000" cy="113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49" name=""/>
          <p:cNvSpPr/>
          <p:nvPr/>
        </p:nvSpPr>
        <p:spPr>
          <a:xfrm>
            <a:off x="450000" y="3258000"/>
            <a:ext cx="64800" cy="1134000"/>
          </a:xfrm>
          <a:prstGeom prst="roundRect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150" name=""/>
          <p:cNvSpPr txBox="1"/>
          <p:nvPr/>
        </p:nvSpPr>
        <p:spPr>
          <a:xfrm>
            <a:off x="637200" y="3380400"/>
            <a:ext cx="509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醫師審閱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37200" y="3690000"/>
            <a:ext cx="509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七段摘要可編輯、逐欄確認；內容變更會重新要求確認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52" name=""/>
          <p:cNvSpPr/>
          <p:nvPr/>
        </p:nvSpPr>
        <p:spPr>
          <a:xfrm>
            <a:off x="6066000" y="3258000"/>
            <a:ext cx="5400000" cy="113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53" name=""/>
          <p:cNvSpPr/>
          <p:nvPr/>
        </p:nvSpPr>
        <p:spPr>
          <a:xfrm>
            <a:off x="6066000" y="3258000"/>
            <a:ext cx="64800" cy="1134000"/>
          </a:xfrm>
          <a:prstGeom prst="roundRect">
            <a:avLst/>
          </a:prstGeom>
          <a:solidFill>
            <a:srgbClr val="84d035"/>
          </a:solidFill>
          <a:ln w="0">
            <a:noFill/>
          </a:ln>
        </p:spPr>
      </p:sp>
      <p:sp>
        <p:nvSpPr>
          <p:cNvPr id="154" name=""/>
          <p:cNvSpPr txBox="1"/>
          <p:nvPr/>
        </p:nvSpPr>
        <p:spPr>
          <a:xfrm>
            <a:off x="6253200" y="3380400"/>
            <a:ext cx="509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700" spc="-1" strike="noStrike">
                <a:solidFill>
                  <a:srgbClr val="0a336b"/>
                </a:solidFill>
                <a:latin typeface="Microsoft YaHei"/>
              </a:rPr>
              <a:t>EHR </a:t>
            </a:r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整合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253200" y="3690000"/>
            <a:ext cx="5094000" cy="648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由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Backend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建立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preliminary FHIR Composition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，保留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trusted context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156" name=""/>
          <p:cNvSpPr/>
          <p:nvPr/>
        </p:nvSpPr>
        <p:spPr>
          <a:xfrm>
            <a:off x="450000" y="4698000"/>
            <a:ext cx="11070000" cy="1332000"/>
          </a:xfrm>
          <a:prstGeom prst="roundRect">
            <a:avLst/>
          </a:prstGeom>
          <a:solidFill>
            <a:srgbClr val="fbecef"/>
          </a:solidFill>
          <a:ln w="0">
            <a:noFill/>
          </a:ln>
        </p:spPr>
      </p:sp>
      <p:sp>
        <p:nvSpPr>
          <p:cNvPr id="157" name=""/>
          <p:cNvSpPr txBox="1"/>
          <p:nvPr/>
        </p:nvSpPr>
        <p:spPr>
          <a:xfrm>
            <a:off x="648000" y="4852800"/>
            <a:ext cx="270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c74b5d"/>
                </a:solidFill>
                <a:latin typeface="Microsoft YaHei"/>
              </a:rPr>
              <a:t>尚未完成院方正式上線</a:t>
            </a:r>
            <a:endParaRPr b="1" lang="en-US" sz="1700" spc="-1" strike="noStrike">
              <a:solidFill>
                <a:srgbClr val="c74b5d"/>
              </a:solidFill>
              <a:latin typeface="Microsoft YaHei"/>
              <a:ea typeface="Microsoft YaHei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48000" y="5158800"/>
            <a:ext cx="1040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500" spc="-1" strike="noStrike">
                <a:solidFill>
                  <a:srgbClr val="263a4d"/>
                </a:solidFill>
                <a:latin typeface="Microsoft YaHei"/>
              </a:rPr>
              <a:t>一般化 </a:t>
            </a:r>
            <a:r>
              <a:rPr b="0" lang="en-US" sz="1500" spc="-1" strike="noStrike">
                <a:solidFill>
                  <a:srgbClr val="263a4d"/>
                </a:solidFill>
                <a:latin typeface="Microsoft YaHei"/>
              </a:rPr>
              <a:t>Safety</a:t>
            </a:r>
            <a:r>
              <a:rPr b="0" lang="zh-CN" sz="1500" spc="-1" strike="noStrike">
                <a:solidFill>
                  <a:srgbClr val="263a4d"/>
                </a:solidFill>
                <a:latin typeface="Microsoft YaHei"/>
              </a:rPr>
              <a:t>、正式身分治理、</a:t>
            </a:r>
            <a:r>
              <a:rPr b="0" lang="en-US" sz="1500" spc="-1" strike="noStrike">
                <a:solidFill>
                  <a:srgbClr val="263a4d"/>
                </a:solidFill>
                <a:latin typeface="Microsoft YaHei"/>
              </a:rPr>
              <a:t>FHIR </a:t>
            </a:r>
            <a:r>
              <a:rPr b="0" lang="zh-CN" sz="1500" spc="-1" strike="noStrike">
                <a:solidFill>
                  <a:srgbClr val="263a4d"/>
                </a:solidFill>
                <a:latin typeface="Microsoft YaHei"/>
              </a:rPr>
              <a:t>簽署／稽核與臨床驗證仍是下一階段主線；</a:t>
            </a:r>
            <a:r>
              <a:rPr b="0" lang="en-US" sz="1500" spc="-1" strike="noStrike">
                <a:solidFill>
                  <a:srgbClr val="263a4d"/>
                </a:solidFill>
                <a:latin typeface="Microsoft YaHei"/>
              </a:rPr>
              <a:t>frontend-v2 </a:t>
            </a:r>
            <a:r>
              <a:rPr b="0" lang="zh-CN" sz="1500" spc="-1" strike="noStrike">
                <a:solidFill>
                  <a:srgbClr val="263a4d"/>
                </a:solidFill>
                <a:latin typeface="Microsoft YaHei"/>
              </a:rPr>
              <a:t>本輪未同步。</a:t>
            </a:r>
            <a:endParaRPr b="0" lang="en-US" sz="15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CURRENT END-TO-END FLOW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端到端流程已串起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61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162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03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63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65" name=""/>
          <p:cNvSpPr/>
          <p:nvPr/>
        </p:nvSpPr>
        <p:spPr>
          <a:xfrm>
            <a:off x="450000" y="1314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66" name=""/>
          <p:cNvSpPr/>
          <p:nvPr/>
        </p:nvSpPr>
        <p:spPr>
          <a:xfrm>
            <a:off x="601200" y="1458000"/>
            <a:ext cx="360000" cy="36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01200" y="1933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SMART </a:t>
            </a: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選人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12000" y="2268000"/>
            <a:ext cx="2034000" cy="29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OAuth launch context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840400" y="1828800"/>
            <a:ext cx="446400" cy="4618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2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70" name=""/>
          <p:cNvSpPr/>
          <p:nvPr/>
        </p:nvSpPr>
        <p:spPr>
          <a:xfrm>
            <a:off x="3304800" y="1314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71" name=""/>
          <p:cNvSpPr/>
          <p:nvPr/>
        </p:nvSpPr>
        <p:spPr>
          <a:xfrm>
            <a:off x="3456000" y="1458000"/>
            <a:ext cx="360000" cy="36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456000" y="1933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一次性 </a:t>
            </a:r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QR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466800" y="2268000"/>
            <a:ext cx="203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opaque code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｜</a:t>
            </a: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300 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秒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695200" y="1828800"/>
            <a:ext cx="446400" cy="4618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2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75" name=""/>
          <p:cNvSpPr/>
          <p:nvPr/>
        </p:nvSpPr>
        <p:spPr>
          <a:xfrm>
            <a:off x="6159600" y="1314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76" name=""/>
          <p:cNvSpPr/>
          <p:nvPr/>
        </p:nvSpPr>
        <p:spPr>
          <a:xfrm>
            <a:off x="6310800" y="1458000"/>
            <a:ext cx="360000" cy="36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310800" y="1933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病患 </a:t>
            </a:r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session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321600" y="2268000"/>
            <a:ext cx="203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HttpOnly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｜</a:t>
            </a: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server 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綁定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550000" y="1828800"/>
            <a:ext cx="446400" cy="4618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2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80" name=""/>
          <p:cNvSpPr/>
          <p:nvPr/>
        </p:nvSpPr>
        <p:spPr>
          <a:xfrm>
            <a:off x="9014400" y="1314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81" name=""/>
          <p:cNvSpPr/>
          <p:nvPr/>
        </p:nvSpPr>
        <p:spPr>
          <a:xfrm>
            <a:off x="9165600" y="1458000"/>
            <a:ext cx="360000" cy="36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9165600" y="1933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固定問卷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76400" y="2268000"/>
            <a:ext cx="203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文字／語音／</a:t>
            </a: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Avatar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84" name=""/>
          <p:cNvSpPr/>
          <p:nvPr/>
        </p:nvSpPr>
        <p:spPr>
          <a:xfrm>
            <a:off x="1872000" y="3510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85" name=""/>
          <p:cNvSpPr/>
          <p:nvPr/>
        </p:nvSpPr>
        <p:spPr>
          <a:xfrm>
            <a:off x="2023200" y="3654000"/>
            <a:ext cx="360000" cy="360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023200" y="4129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AI </a:t>
            </a: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結構化摘要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034000" y="4464000"/>
            <a:ext cx="203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RAG A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／</a:t>
            </a: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B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／</a:t>
            </a: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C </a:t>
            </a: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證據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88" name=""/>
          <p:cNvSpPr/>
          <p:nvPr/>
        </p:nvSpPr>
        <p:spPr>
          <a:xfrm>
            <a:off x="4734000" y="3510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89" name=""/>
          <p:cNvSpPr/>
          <p:nvPr/>
        </p:nvSpPr>
        <p:spPr>
          <a:xfrm>
            <a:off x="4885200" y="3654000"/>
            <a:ext cx="360000" cy="360000"/>
          </a:xfrm>
          <a:prstGeom prst="ellipse">
            <a:avLst/>
          </a:prstGeom>
          <a:solidFill>
            <a:srgbClr val="0a336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6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885200" y="4129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醫師逐段確認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896000" y="4464000"/>
            <a:ext cx="2034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80" spc="-1" strike="noStrike">
                <a:solidFill>
                  <a:srgbClr val="667a8a"/>
                </a:solidFill>
                <a:latin typeface="Microsoft YaHei"/>
              </a:rPr>
              <a:t>編輯、確認、版本檢查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92" name=""/>
          <p:cNvSpPr/>
          <p:nvPr/>
        </p:nvSpPr>
        <p:spPr>
          <a:xfrm>
            <a:off x="7596000" y="3510000"/>
            <a:ext cx="2358000" cy="147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193" name=""/>
          <p:cNvSpPr/>
          <p:nvPr/>
        </p:nvSpPr>
        <p:spPr>
          <a:xfrm>
            <a:off x="7747200" y="3654000"/>
            <a:ext cx="360000" cy="360000"/>
          </a:xfrm>
          <a:prstGeom prst="ellipse">
            <a:avLst/>
          </a:prstGeom>
          <a:solidFill>
            <a:srgbClr val="0a336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7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747200" y="41292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FHIR </a:t>
            </a: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回寫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758000" y="4464000"/>
            <a:ext cx="2034000" cy="29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180" spc="-1" strike="noStrike">
                <a:solidFill>
                  <a:srgbClr val="667a8a"/>
                </a:solidFill>
                <a:latin typeface="Microsoft YaHei"/>
              </a:rPr>
              <a:t>preliminary Composition</a:t>
            </a:r>
            <a:endParaRPr b="0" lang="en-US" sz="11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0170000" y="2970000"/>
            <a:ext cx="360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↓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284000" y="4024800"/>
            <a:ext cx="432000" cy="4618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2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146000" y="4024800"/>
            <a:ext cx="432000" cy="4618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2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2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199" name=""/>
          <p:cNvSpPr/>
          <p:nvPr/>
        </p:nvSpPr>
        <p:spPr>
          <a:xfrm>
            <a:off x="450000" y="5227200"/>
            <a:ext cx="11070000" cy="774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00" name=""/>
          <p:cNvSpPr txBox="1"/>
          <p:nvPr/>
        </p:nvSpPr>
        <p:spPr>
          <a:xfrm>
            <a:off x="630000" y="5382000"/>
            <a:ext cx="111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資料邊界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699200" y="5349600"/>
            <a:ext cx="943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FHIR access token 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僅供瀏覽器讀取 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FHIR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；不送入問診 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Backend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RAG 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或外部模型。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Patient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Encounter 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由受信任 </a:t>
            </a:r>
            <a:r>
              <a:rPr b="0" lang="en-US" sz="1340" spc="-1" strike="noStrike">
                <a:solidFill>
                  <a:srgbClr val="263a4d"/>
                </a:solidFill>
                <a:latin typeface="Microsoft YaHei"/>
              </a:rPr>
              <a:t>context </a:t>
            </a:r>
            <a:r>
              <a:rPr b="0" lang="zh-CN" sz="1340" spc="-1" strike="noStrike">
                <a:solidFill>
                  <a:srgbClr val="263a4d"/>
                </a:solidFill>
                <a:latin typeface="Microsoft YaHei"/>
              </a:rPr>
              <a:t>綁定。</a:t>
            </a:r>
            <a:endParaRPr b="0" lang="en-US" sz="13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LATEST MILESTONES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8/25—8/31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關鍵里程碑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04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05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04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06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08" name=""/>
          <p:cNvSpPr/>
          <p:nvPr/>
        </p:nvSpPr>
        <p:spPr>
          <a:xfrm>
            <a:off x="756000" y="3294000"/>
            <a:ext cx="10404000" cy="0"/>
          </a:xfrm>
          <a:prstGeom prst="line">
            <a:avLst/>
          </a:prstGeom>
          <a:ln w="32400">
            <a:solidFill>
              <a:srgbClr val="349e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"/>
          <p:cNvSpPr/>
          <p:nvPr/>
        </p:nvSpPr>
        <p:spPr>
          <a:xfrm>
            <a:off x="1303200" y="3085200"/>
            <a:ext cx="417600" cy="4176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0" name=""/>
          <p:cNvSpPr/>
          <p:nvPr/>
        </p:nvSpPr>
        <p:spPr>
          <a:xfrm>
            <a:off x="378000" y="1494000"/>
            <a:ext cx="2268000" cy="127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11" name=""/>
          <p:cNvSpPr txBox="1"/>
          <p:nvPr/>
        </p:nvSpPr>
        <p:spPr>
          <a:xfrm>
            <a:off x="518400" y="1612800"/>
            <a:ext cx="1987200" cy="2955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4ab5c4"/>
                </a:solidFill>
                <a:latin typeface="Microsoft YaHei"/>
              </a:rPr>
              <a:t>8/25</a:t>
            </a:r>
            <a:endParaRPr b="1" lang="en-US" sz="1300" spc="-1" strike="noStrike">
              <a:solidFill>
                <a:srgbClr val="4ab5c4"/>
              </a:solidFill>
              <a:latin typeface="Microsoft YaHei"/>
              <a:ea typeface="Microsoft YaHei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18400" y="1872000"/>
            <a:ext cx="1987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FHIR </a:t>
            </a: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回寫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11200" y="2181600"/>
            <a:ext cx="2001600" cy="581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040" spc="-1" strike="noStrike">
                <a:solidFill>
                  <a:srgbClr val="263a4d"/>
                </a:solidFill>
                <a:latin typeface="Microsoft YaHei"/>
              </a:rPr>
              <a:t>七段確認＋</a:t>
            </a: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Composition</a:t>
            </a:r>
            <a:endParaRPr b="0" lang="en-US" sz="10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14" name=""/>
          <p:cNvSpPr/>
          <p:nvPr/>
        </p:nvSpPr>
        <p:spPr>
          <a:xfrm>
            <a:off x="1512000" y="2772000"/>
            <a:ext cx="0" cy="298800"/>
          </a:xfrm>
          <a:prstGeom prst="line">
            <a:avLst/>
          </a:prstGeom>
          <a:ln w="14400">
            <a:solidFill>
              <a:srgbClr val="4ab5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"/>
          <p:cNvSpPr/>
          <p:nvPr/>
        </p:nvSpPr>
        <p:spPr>
          <a:xfrm>
            <a:off x="4039200" y="3085200"/>
            <a:ext cx="417600" cy="4176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6" name=""/>
          <p:cNvSpPr/>
          <p:nvPr/>
        </p:nvSpPr>
        <p:spPr>
          <a:xfrm>
            <a:off x="4248000" y="3517200"/>
            <a:ext cx="0" cy="291600"/>
          </a:xfrm>
          <a:prstGeom prst="line">
            <a:avLst/>
          </a:prstGeom>
          <a:ln w="14400">
            <a:solidFill>
              <a:srgbClr val="349e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"/>
          <p:cNvSpPr/>
          <p:nvPr/>
        </p:nvSpPr>
        <p:spPr>
          <a:xfrm>
            <a:off x="3114000" y="3816000"/>
            <a:ext cx="2268000" cy="127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18" name=""/>
          <p:cNvSpPr txBox="1"/>
          <p:nvPr/>
        </p:nvSpPr>
        <p:spPr>
          <a:xfrm>
            <a:off x="3254400" y="3942000"/>
            <a:ext cx="1987200" cy="2955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349e81"/>
                </a:solidFill>
                <a:latin typeface="Microsoft YaHei"/>
              </a:rPr>
              <a:t>8/27</a:t>
            </a:r>
            <a:endParaRPr b="1" lang="en-US" sz="1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254400" y="4201200"/>
            <a:ext cx="19872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QR Launcher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247200" y="4514400"/>
            <a:ext cx="20016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040" spc="-1" strike="noStrike">
                <a:solidFill>
                  <a:srgbClr val="263a4d"/>
                </a:solidFill>
                <a:latin typeface="Microsoft YaHei"/>
              </a:rPr>
              <a:t>一次性 </a:t>
            </a: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code</a:t>
            </a:r>
            <a:r>
              <a:rPr b="0" lang="zh-CN" sz="1040" spc="-1" strike="noStrike">
                <a:solidFill>
                  <a:srgbClr val="263a4d"/>
                </a:solidFill>
                <a:latin typeface="Microsoft YaHei"/>
              </a:rPr>
              <a:t>＋</a:t>
            </a: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ZXing</a:t>
            </a:r>
            <a:endParaRPr b="0" lang="en-US" sz="10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1" name=""/>
          <p:cNvSpPr/>
          <p:nvPr/>
        </p:nvSpPr>
        <p:spPr>
          <a:xfrm>
            <a:off x="6811200" y="3085200"/>
            <a:ext cx="417600" cy="4176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22" name=""/>
          <p:cNvSpPr/>
          <p:nvPr/>
        </p:nvSpPr>
        <p:spPr>
          <a:xfrm>
            <a:off x="5886000" y="1494000"/>
            <a:ext cx="2268000" cy="127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23" name=""/>
          <p:cNvSpPr txBox="1"/>
          <p:nvPr/>
        </p:nvSpPr>
        <p:spPr>
          <a:xfrm>
            <a:off x="6026400" y="1612800"/>
            <a:ext cx="1987200" cy="2955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2ca857"/>
                </a:solidFill>
                <a:latin typeface="Microsoft YaHei"/>
              </a:rPr>
              <a:t>8/28</a:t>
            </a:r>
            <a:endParaRPr b="1" lang="en-US" sz="130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026400" y="1872000"/>
            <a:ext cx="1987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SMART </a:t>
            </a: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穩定化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019200" y="2181600"/>
            <a:ext cx="20016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CORS</a:t>
            </a:r>
            <a:r>
              <a:rPr b="0" lang="zh-CN" sz="1040" spc="-1" strike="noStrike">
                <a:solidFill>
                  <a:srgbClr val="263a4d"/>
                </a:solidFill>
                <a:latin typeface="Microsoft YaHei"/>
              </a:rPr>
              <a:t>＋</a:t>
            </a: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pagination</a:t>
            </a:r>
            <a:endParaRPr b="0" lang="en-US" sz="10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26" name=""/>
          <p:cNvSpPr/>
          <p:nvPr/>
        </p:nvSpPr>
        <p:spPr>
          <a:xfrm>
            <a:off x="7020000" y="2772000"/>
            <a:ext cx="0" cy="298800"/>
          </a:xfrm>
          <a:prstGeom prst="line">
            <a:avLst/>
          </a:prstGeom>
          <a:ln w="14400">
            <a:solidFill>
              <a:srgbClr val="2ca8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"/>
          <p:cNvSpPr/>
          <p:nvPr/>
        </p:nvSpPr>
        <p:spPr>
          <a:xfrm>
            <a:off x="9583200" y="3085200"/>
            <a:ext cx="417600" cy="417600"/>
          </a:xfrm>
          <a:prstGeom prst="ellipse">
            <a:avLst/>
          </a:prstGeom>
          <a:solidFill>
            <a:srgbClr val="84d03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28" name=""/>
          <p:cNvSpPr/>
          <p:nvPr/>
        </p:nvSpPr>
        <p:spPr>
          <a:xfrm>
            <a:off x="9792000" y="3517200"/>
            <a:ext cx="0" cy="291600"/>
          </a:xfrm>
          <a:prstGeom prst="line">
            <a:avLst/>
          </a:prstGeom>
          <a:ln w="14400">
            <a:solidFill>
              <a:srgbClr val="84d03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"/>
          <p:cNvSpPr/>
          <p:nvPr/>
        </p:nvSpPr>
        <p:spPr>
          <a:xfrm>
            <a:off x="8658000" y="3816000"/>
            <a:ext cx="2268000" cy="127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30" name=""/>
          <p:cNvSpPr txBox="1"/>
          <p:nvPr/>
        </p:nvSpPr>
        <p:spPr>
          <a:xfrm>
            <a:off x="8798400" y="3942000"/>
            <a:ext cx="1987200" cy="2955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84d035"/>
                </a:solidFill>
                <a:latin typeface="Microsoft YaHei"/>
              </a:rPr>
              <a:t>8/31</a:t>
            </a:r>
            <a:endParaRPr b="1" lang="en-US" sz="1300" spc="-1" strike="noStrike">
              <a:solidFill>
                <a:srgbClr val="84d035"/>
              </a:solidFill>
              <a:latin typeface="Microsoft YaHei"/>
              <a:ea typeface="Microsoft YaHei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798400" y="4201200"/>
            <a:ext cx="1987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UX</a:t>
            </a:r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＋</a:t>
            </a: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Integration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791200" y="4514400"/>
            <a:ext cx="20016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040" spc="-1" strike="noStrike">
                <a:solidFill>
                  <a:srgbClr val="263a4d"/>
                </a:solidFill>
                <a:latin typeface="Microsoft YaHei"/>
              </a:rPr>
              <a:t>手機捲動＋</a:t>
            </a:r>
            <a:r>
              <a:rPr b="0" lang="en-US" sz="1040" spc="-1" strike="noStrike">
                <a:solidFill>
                  <a:srgbClr val="263a4d"/>
                </a:solidFill>
                <a:latin typeface="Microsoft YaHei"/>
              </a:rPr>
              <a:t>HAPI 200</a:t>
            </a:r>
            <a:endParaRPr b="0" lang="en-US" sz="10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33" name=""/>
          <p:cNvSpPr/>
          <p:nvPr/>
        </p:nvSpPr>
        <p:spPr>
          <a:xfrm>
            <a:off x="1476000" y="5443200"/>
            <a:ext cx="9270000" cy="4248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234" name=""/>
          <p:cNvSpPr txBox="1"/>
          <p:nvPr/>
        </p:nvSpPr>
        <p:spPr>
          <a:xfrm>
            <a:off x="1638000" y="5522400"/>
            <a:ext cx="894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550" spc="-1" strike="noStrike">
                <a:solidFill>
                  <a:srgbClr val="ffffff"/>
                </a:solidFill>
                <a:latin typeface="Microsoft YaHei"/>
              </a:rPr>
              <a:t>本期主軸：從功能片段推進到可演示、可驗證的合成資料閉環</a:t>
            </a:r>
            <a:endParaRPr b="1" lang="en-US" sz="15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PATIENT JOURNEY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病患端：報到到問診的安全閉環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37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38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05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39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41" name=""/>
          <p:cNvSpPr/>
          <p:nvPr/>
        </p:nvSpPr>
        <p:spPr>
          <a:xfrm>
            <a:off x="450000" y="1296000"/>
            <a:ext cx="3492000" cy="311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42" name=""/>
          <p:cNvSpPr/>
          <p:nvPr/>
        </p:nvSpPr>
        <p:spPr>
          <a:xfrm>
            <a:off x="450000" y="1296000"/>
            <a:ext cx="3492000" cy="424800"/>
          </a:xfrm>
          <a:prstGeom prst="roundRect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243" name=""/>
          <p:cNvSpPr txBox="1"/>
          <p:nvPr/>
        </p:nvSpPr>
        <p:spPr>
          <a:xfrm>
            <a:off x="594000" y="1386000"/>
            <a:ext cx="320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① </a:t>
            </a: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SMART </a:t>
            </a:r>
            <a:r>
              <a:rPr b="1" lang="zh-CN" sz="1500" spc="-1" strike="noStrike">
                <a:solidFill>
                  <a:srgbClr val="ffffff"/>
                </a:solidFill>
                <a:latin typeface="Microsoft YaHei"/>
              </a:rPr>
              <a:t>選定病人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51600" y="1900800"/>
            <a:ext cx="3081600" cy="2001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由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launch context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取得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Patient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Encounter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issuer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必須與伺服器設定完全相符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不提供病患自行切換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45" name=""/>
          <p:cNvSpPr/>
          <p:nvPr/>
        </p:nvSpPr>
        <p:spPr>
          <a:xfrm>
            <a:off x="4194000" y="1296000"/>
            <a:ext cx="3492000" cy="311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46" name=""/>
          <p:cNvSpPr/>
          <p:nvPr/>
        </p:nvSpPr>
        <p:spPr>
          <a:xfrm>
            <a:off x="4194000" y="1296000"/>
            <a:ext cx="3492000" cy="4248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47" name=""/>
          <p:cNvSpPr txBox="1"/>
          <p:nvPr/>
        </p:nvSpPr>
        <p:spPr>
          <a:xfrm>
            <a:off x="4338000" y="1386000"/>
            <a:ext cx="320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② </a:t>
            </a:r>
            <a:r>
              <a:rPr b="1" lang="zh-CN" sz="1500" spc="-1" strike="noStrike">
                <a:solidFill>
                  <a:srgbClr val="ffffff"/>
                </a:solidFill>
                <a:latin typeface="Microsoft YaHei"/>
              </a:rPr>
              <a:t>一次性 </a:t>
            </a: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QR</a:t>
            </a:r>
            <a:r>
              <a:rPr b="1" lang="zh-CN" sz="1500" spc="-1" strike="noStrike">
                <a:solidFill>
                  <a:srgbClr val="ffffff"/>
                </a:solidFill>
                <a:latin typeface="Microsoft YaHei"/>
              </a:rPr>
              <a:t>／</a:t>
            </a: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code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395600" y="1900800"/>
            <a:ext cx="3081600" cy="2001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QR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不含姓名、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Patient ID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或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JWT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SQLite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只保存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SHA-256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預設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300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秒、可撤銷、單次兌換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49" name=""/>
          <p:cNvSpPr/>
          <p:nvPr/>
        </p:nvSpPr>
        <p:spPr>
          <a:xfrm>
            <a:off x="7938000" y="1296000"/>
            <a:ext cx="3492000" cy="3114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250" name=""/>
          <p:cNvSpPr/>
          <p:nvPr/>
        </p:nvSpPr>
        <p:spPr>
          <a:xfrm>
            <a:off x="7938000" y="1296000"/>
            <a:ext cx="3492000" cy="424800"/>
          </a:xfrm>
          <a:prstGeom prst="roundRect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51" name=""/>
          <p:cNvSpPr txBox="1"/>
          <p:nvPr/>
        </p:nvSpPr>
        <p:spPr>
          <a:xfrm>
            <a:off x="8082000" y="1386000"/>
            <a:ext cx="320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③ </a:t>
            </a:r>
            <a:r>
              <a:rPr b="1" lang="en-US" sz="1500" spc="-1" strike="noStrike">
                <a:solidFill>
                  <a:srgbClr val="ffffff"/>
                </a:solidFill>
                <a:latin typeface="Microsoft YaHei"/>
              </a:rPr>
              <a:t>Session </a:t>
            </a:r>
            <a:r>
              <a:rPr b="1" lang="zh-CN" sz="1500" spc="-1" strike="noStrike">
                <a:solidFill>
                  <a:srgbClr val="ffffff"/>
                </a:solidFill>
                <a:latin typeface="Microsoft YaHei"/>
              </a:rPr>
              <a:t>與問診</a:t>
            </a:r>
            <a:endParaRPr b="1" lang="en-US" sz="15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139600" y="1900800"/>
            <a:ext cx="3081600" cy="2001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兌換後建立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HttpOnly session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FHIR context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由伺服器綁定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• 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固定問卷＋文字／語音／本機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Avatar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3798000" y="2592000"/>
            <a:ext cx="360000" cy="500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4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542000" y="2592000"/>
            <a:ext cx="360000" cy="500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4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55" name=""/>
          <p:cNvSpPr/>
          <p:nvPr/>
        </p:nvSpPr>
        <p:spPr>
          <a:xfrm>
            <a:off x="450000" y="4716000"/>
            <a:ext cx="10980000" cy="11160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256" name=""/>
          <p:cNvSpPr txBox="1"/>
          <p:nvPr/>
        </p:nvSpPr>
        <p:spPr>
          <a:xfrm>
            <a:off x="655200" y="4860000"/>
            <a:ext cx="223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跨瀏覽器可用性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556000" y="4842000"/>
            <a:ext cx="853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優先使用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BarcodeDetector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；不可用時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lazy-load ZXing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。相機失敗仍保留貼碼入口，關閉／成功／卸載都會釋放 </a:t>
            </a:r>
            <a:r>
              <a:rPr b="0" lang="en-US" sz="1400" spc="-1" strike="noStrike">
                <a:solidFill>
                  <a:srgbClr val="263a4d"/>
                </a:solidFill>
                <a:latin typeface="Microsoft YaHei"/>
              </a:rPr>
              <a:t>camera tracks</a:t>
            </a:r>
            <a:r>
              <a:rPr b="0" lang="zh-CN" sz="1400" spc="-1" strike="noStrike">
                <a:solidFill>
                  <a:srgbClr val="263a4d"/>
                </a:solidFill>
                <a:latin typeface="Microsoft YaHei"/>
              </a:rPr>
              <a:t>。</a:t>
            </a:r>
            <a:endParaRPr b="0" lang="en-US" sz="14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CLINICIAN REVIEW &amp; WRITE-BACK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醫師端：確認後才回寫 </a:t>
            </a:r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FHIR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60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61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06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62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264" name=""/>
          <p:cNvSpPr/>
          <p:nvPr/>
        </p:nvSpPr>
        <p:spPr>
          <a:xfrm>
            <a:off x="450000" y="1278000"/>
            <a:ext cx="5184000" cy="4554000"/>
          </a:xfrm>
          <a:prstGeom prst="roundRect">
            <a:avLst/>
          </a:prstGeom>
          <a:solidFill>
            <a:srgbClr val="f6f8fa"/>
          </a:solidFill>
          <a:ln w="0">
            <a:noFill/>
          </a:ln>
        </p:spPr>
      </p:sp>
      <p:sp>
        <p:nvSpPr>
          <p:cNvPr id="265" name=""/>
          <p:cNvSpPr txBox="1"/>
          <p:nvPr/>
        </p:nvSpPr>
        <p:spPr>
          <a:xfrm>
            <a:off x="666000" y="1440000"/>
            <a:ext cx="460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醫師操作流程</a:t>
            </a:r>
            <a:endParaRPr b="1" lang="en-US" sz="19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66" name=""/>
          <p:cNvSpPr/>
          <p:nvPr/>
        </p:nvSpPr>
        <p:spPr>
          <a:xfrm>
            <a:off x="702000" y="1882800"/>
            <a:ext cx="331200" cy="3312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</a:rPr>
              <a:t>1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116000" y="1920240"/>
            <a:ext cx="40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檢視 </a:t>
            </a:r>
            <a:r>
              <a:rPr b="0" lang="en-US" sz="1430" spc="-1" strike="noStrike">
                <a:solidFill>
                  <a:srgbClr val="263a4d"/>
                </a:solidFill>
                <a:latin typeface="Microsoft YaHei"/>
              </a:rPr>
              <a:t>AI </a:t>
            </a:r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結構化摘要</a:t>
            </a:r>
            <a:endParaRPr b="0" lang="en-US" sz="14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68" name=""/>
          <p:cNvSpPr/>
          <p:nvPr/>
        </p:nvSpPr>
        <p:spPr>
          <a:xfrm>
            <a:off x="867600" y="2221200"/>
            <a:ext cx="0" cy="255600"/>
          </a:xfrm>
          <a:prstGeom prst="line">
            <a:avLst/>
          </a:prstGeom>
          <a:ln w="126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"/>
          <p:cNvSpPr/>
          <p:nvPr/>
        </p:nvSpPr>
        <p:spPr>
          <a:xfrm>
            <a:off x="702000" y="2559600"/>
            <a:ext cx="331200" cy="3312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</a:rPr>
              <a:t>2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16000" y="2597040"/>
            <a:ext cx="40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編輯七段內容</a:t>
            </a:r>
            <a:endParaRPr b="0" lang="en-US" sz="14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71" name=""/>
          <p:cNvSpPr/>
          <p:nvPr/>
        </p:nvSpPr>
        <p:spPr>
          <a:xfrm>
            <a:off x="867600" y="2898000"/>
            <a:ext cx="0" cy="255600"/>
          </a:xfrm>
          <a:prstGeom prst="line">
            <a:avLst/>
          </a:prstGeom>
          <a:ln w="126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"/>
          <p:cNvSpPr/>
          <p:nvPr/>
        </p:nvSpPr>
        <p:spPr>
          <a:xfrm>
            <a:off x="702000" y="3236400"/>
            <a:ext cx="331200" cy="3312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</a:rPr>
              <a:t>3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116000" y="3273840"/>
            <a:ext cx="40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逐欄確認；再修改即撤銷確認</a:t>
            </a:r>
            <a:endParaRPr b="0" lang="en-US" sz="14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74" name=""/>
          <p:cNvSpPr/>
          <p:nvPr/>
        </p:nvSpPr>
        <p:spPr>
          <a:xfrm>
            <a:off x="867600" y="3574800"/>
            <a:ext cx="0" cy="255600"/>
          </a:xfrm>
          <a:prstGeom prst="line">
            <a:avLst/>
          </a:prstGeom>
          <a:ln w="126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"/>
          <p:cNvSpPr/>
          <p:nvPr/>
        </p:nvSpPr>
        <p:spPr>
          <a:xfrm>
            <a:off x="702000" y="3913200"/>
            <a:ext cx="331200" cy="3312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</a:rPr>
              <a:t>4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116000" y="3950640"/>
            <a:ext cx="40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總覽 </a:t>
            </a:r>
            <a:r>
              <a:rPr b="0" lang="en-US" sz="1430" spc="-1" strike="noStrike">
                <a:solidFill>
                  <a:srgbClr val="263a4d"/>
                </a:solidFill>
                <a:latin typeface="Microsoft YaHei"/>
              </a:rPr>
              <a:t>Patient</a:t>
            </a:r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430" spc="-1" strike="noStrike">
                <a:solidFill>
                  <a:srgbClr val="263a4d"/>
                </a:solidFill>
                <a:latin typeface="Microsoft YaHei"/>
              </a:rPr>
              <a:t>Encounter</a:t>
            </a:r>
            <a:r>
              <a:rPr b="0" lang="zh-CN" sz="1430" spc="-1" strike="noStrike">
                <a:solidFill>
                  <a:srgbClr val="263a4d"/>
                </a:solidFill>
                <a:latin typeface="Microsoft YaHei"/>
              </a:rPr>
              <a:t>／完整內容</a:t>
            </a:r>
            <a:endParaRPr b="0" lang="en-US" sz="14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77" name=""/>
          <p:cNvSpPr/>
          <p:nvPr/>
        </p:nvSpPr>
        <p:spPr>
          <a:xfrm>
            <a:off x="867600" y="4251600"/>
            <a:ext cx="0" cy="255600"/>
          </a:xfrm>
          <a:prstGeom prst="line">
            <a:avLst/>
          </a:prstGeom>
          <a:ln w="1260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"/>
          <p:cNvSpPr/>
          <p:nvPr/>
        </p:nvSpPr>
        <p:spPr>
          <a:xfrm>
            <a:off x="702000" y="4590000"/>
            <a:ext cx="331200" cy="331200"/>
          </a:xfrm>
          <a:prstGeom prst="ellipse">
            <a:avLst/>
          </a:prstGeom>
          <a:solidFill>
            <a:srgbClr val="0a336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Microsoft YaHei"/>
              </a:rPr>
              <a:t>5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16000" y="4627440"/>
            <a:ext cx="40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1430" spc="-1" strike="noStrike">
                <a:solidFill>
                  <a:srgbClr val="263a4d"/>
                </a:solidFill>
                <a:latin typeface="Microsoft YaHei"/>
              </a:rPr>
              <a:t>確認無誤後送出</a:t>
            </a:r>
            <a:endParaRPr b="1" lang="en-US" sz="14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0" name=""/>
          <p:cNvSpPr/>
          <p:nvPr/>
        </p:nvSpPr>
        <p:spPr>
          <a:xfrm>
            <a:off x="5922000" y="1278000"/>
            <a:ext cx="5598000" cy="2178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281" name=""/>
          <p:cNvSpPr txBox="1"/>
          <p:nvPr/>
        </p:nvSpPr>
        <p:spPr>
          <a:xfrm>
            <a:off x="6138000" y="1440000"/>
            <a:ext cx="5004000" cy="4071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900" spc="-1" strike="noStrike">
                <a:solidFill>
                  <a:srgbClr val="0a336b"/>
                </a:solidFill>
                <a:latin typeface="Microsoft YaHei"/>
              </a:rPr>
              <a:t>Backend </a:t>
            </a: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送出門檻</a:t>
            </a:r>
            <a:endParaRPr b="1" lang="en-US" sz="19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82" name=""/>
          <p:cNvSpPr/>
          <p:nvPr/>
        </p:nvSpPr>
        <p:spPr>
          <a:xfrm>
            <a:off x="6156000" y="19188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83" name=""/>
          <p:cNvSpPr txBox="1"/>
          <p:nvPr/>
        </p:nvSpPr>
        <p:spPr>
          <a:xfrm>
            <a:off x="6285600" y="1836000"/>
            <a:ext cx="4838400" cy="30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exact consultation:fhir-write scope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4" name=""/>
          <p:cNvSpPr/>
          <p:nvPr/>
        </p:nvSpPr>
        <p:spPr>
          <a:xfrm>
            <a:off x="6156000" y="22608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85" name=""/>
          <p:cNvSpPr txBox="1"/>
          <p:nvPr/>
        </p:nvSpPr>
        <p:spPr>
          <a:xfrm>
            <a:off x="6285600" y="2178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七段均確認，且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updated_at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未過期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6" name=""/>
          <p:cNvSpPr/>
          <p:nvPr/>
        </p:nvSpPr>
        <p:spPr>
          <a:xfrm>
            <a:off x="6156000" y="26028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87" name=""/>
          <p:cNvSpPr txBox="1"/>
          <p:nvPr/>
        </p:nvSpPr>
        <p:spPr>
          <a:xfrm>
            <a:off x="6285600" y="2520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Patient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Encounter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／作者由受信任資訊決定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88" name=""/>
          <p:cNvSpPr/>
          <p:nvPr/>
        </p:nvSpPr>
        <p:spPr>
          <a:xfrm>
            <a:off x="6156000" y="2944800"/>
            <a:ext cx="64800" cy="648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289" name=""/>
          <p:cNvSpPr txBox="1"/>
          <p:nvPr/>
        </p:nvSpPr>
        <p:spPr>
          <a:xfrm>
            <a:off x="6285600" y="2862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瀏覽器不得指定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FHIR endpoint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或寫入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token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0" name=""/>
          <p:cNvSpPr/>
          <p:nvPr/>
        </p:nvSpPr>
        <p:spPr>
          <a:xfrm>
            <a:off x="5922000" y="3643200"/>
            <a:ext cx="5598000" cy="21888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291" name=""/>
          <p:cNvSpPr txBox="1"/>
          <p:nvPr/>
        </p:nvSpPr>
        <p:spPr>
          <a:xfrm>
            <a:off x="6138000" y="3808800"/>
            <a:ext cx="5004000" cy="4071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900" spc="-1" strike="noStrike">
                <a:solidFill>
                  <a:srgbClr val="0a336b"/>
                </a:solidFill>
                <a:latin typeface="Microsoft YaHei"/>
              </a:rPr>
              <a:t>FHIR resource </a:t>
            </a:r>
            <a:r>
              <a:rPr b="1" lang="zh-CN" sz="1900" spc="-1" strike="noStrike">
                <a:solidFill>
                  <a:srgbClr val="0a336b"/>
                </a:solidFill>
                <a:latin typeface="Microsoft YaHei"/>
              </a:rPr>
              <a:t>特性</a:t>
            </a:r>
            <a:endParaRPr b="1" lang="en-US" sz="19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292" name=""/>
          <p:cNvSpPr/>
          <p:nvPr/>
        </p:nvSpPr>
        <p:spPr>
          <a:xfrm>
            <a:off x="6156000" y="42768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3" name=""/>
          <p:cNvSpPr txBox="1"/>
          <p:nvPr/>
        </p:nvSpPr>
        <p:spPr>
          <a:xfrm>
            <a:off x="6285600" y="4194000"/>
            <a:ext cx="4838400" cy="30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TW Core Composition profile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4" name=""/>
          <p:cNvSpPr/>
          <p:nvPr/>
        </p:nvSpPr>
        <p:spPr>
          <a:xfrm>
            <a:off x="6156000" y="46188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5" name=""/>
          <p:cNvSpPr txBox="1"/>
          <p:nvPr/>
        </p:nvSpPr>
        <p:spPr>
          <a:xfrm>
            <a:off x="6285600" y="4536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LOINC 11503-0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｜狀態固定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preliminary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6" name=""/>
          <p:cNvSpPr/>
          <p:nvPr/>
        </p:nvSpPr>
        <p:spPr>
          <a:xfrm>
            <a:off x="6156000" y="49608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7" name=""/>
          <p:cNvSpPr txBox="1"/>
          <p:nvPr/>
        </p:nvSpPr>
        <p:spPr>
          <a:xfrm>
            <a:off x="6285600" y="4878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穩定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consultation identifier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＋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conditional create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298" name=""/>
          <p:cNvSpPr/>
          <p:nvPr/>
        </p:nvSpPr>
        <p:spPr>
          <a:xfrm>
            <a:off x="6156000" y="5302800"/>
            <a:ext cx="64800" cy="648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299" name=""/>
          <p:cNvSpPr txBox="1"/>
          <p:nvPr/>
        </p:nvSpPr>
        <p:spPr>
          <a:xfrm>
            <a:off x="6285600" y="5220000"/>
            <a:ext cx="48384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不等同電子簽章或正式臨床核准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INTEGRATION HARDENING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SMART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／</a:t>
            </a:r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FHIR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整合穩定化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02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03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07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04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06" name=""/>
          <p:cNvSpPr/>
          <p:nvPr/>
        </p:nvSpPr>
        <p:spPr>
          <a:xfrm>
            <a:off x="450000" y="1314000"/>
            <a:ext cx="3492000" cy="165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07" name=""/>
          <p:cNvSpPr/>
          <p:nvPr/>
        </p:nvSpPr>
        <p:spPr>
          <a:xfrm>
            <a:off x="612000" y="1476000"/>
            <a:ext cx="342000" cy="342000"/>
          </a:xfrm>
          <a:prstGeom prst="ellipse">
            <a:avLst/>
          </a:prstGeom>
          <a:solidFill>
            <a:srgbClr val="4ab5c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044000" y="1494000"/>
            <a:ext cx="2682000" cy="3567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CORS preflight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48000" y="1951200"/>
            <a:ext cx="31032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允許 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no-cache request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使用的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Cache-Control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Pragma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10" name=""/>
          <p:cNvSpPr/>
          <p:nvPr/>
        </p:nvSpPr>
        <p:spPr>
          <a:xfrm>
            <a:off x="4194000" y="1314000"/>
            <a:ext cx="3492000" cy="165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11" name=""/>
          <p:cNvSpPr/>
          <p:nvPr/>
        </p:nvSpPr>
        <p:spPr>
          <a:xfrm>
            <a:off x="4356000" y="1476000"/>
            <a:ext cx="342000" cy="342000"/>
          </a:xfrm>
          <a:prstGeom prst="ellipse">
            <a:avLst/>
          </a:prstGeom>
          <a:solidFill>
            <a:srgbClr val="349e8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4788000" y="1494000"/>
            <a:ext cx="268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$everything </a:t>
            </a:r>
            <a:r>
              <a:rPr b="1" lang="zh-CN" sz="1620" spc="-1" strike="noStrike">
                <a:solidFill>
                  <a:srgbClr val="0a336b"/>
                </a:solidFill>
                <a:latin typeface="Microsoft YaHei"/>
              </a:rPr>
              <a:t>分頁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392000" y="1951200"/>
            <a:ext cx="31032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修正 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HAPI pagination link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重複 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/fhir base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的 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404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14" name=""/>
          <p:cNvSpPr/>
          <p:nvPr/>
        </p:nvSpPr>
        <p:spPr>
          <a:xfrm>
            <a:off x="7938000" y="1314000"/>
            <a:ext cx="3492000" cy="1656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15" name=""/>
          <p:cNvSpPr/>
          <p:nvPr/>
        </p:nvSpPr>
        <p:spPr>
          <a:xfrm>
            <a:off x="8100000" y="1476000"/>
            <a:ext cx="342000" cy="342000"/>
          </a:xfrm>
          <a:prstGeom prst="ellipse">
            <a:avLst/>
          </a:prstGeom>
          <a:solidFill>
            <a:srgbClr val="2ca85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Microsoft YaHei"/>
              </a:rPr>
              <a:t>✓</a:t>
            </a:r>
            <a:endParaRPr b="1" lang="en-US" sz="16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8532000" y="1494000"/>
            <a:ext cx="2682000" cy="3567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620" spc="-1" strike="noStrike">
                <a:solidFill>
                  <a:srgbClr val="0a336b"/>
                </a:solidFill>
                <a:latin typeface="Microsoft YaHei"/>
              </a:rPr>
              <a:t>Trusted issuer</a:t>
            </a:r>
            <a:endParaRPr b="1" lang="en-US" sz="162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8136000" y="1951200"/>
            <a:ext cx="31032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public loopback issuer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與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Backend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比對一致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18" name=""/>
          <p:cNvSpPr/>
          <p:nvPr/>
        </p:nvSpPr>
        <p:spPr>
          <a:xfrm>
            <a:off x="450000" y="3240000"/>
            <a:ext cx="10980000" cy="8640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319" name=""/>
          <p:cNvSpPr txBox="1"/>
          <p:nvPr/>
        </p:nvSpPr>
        <p:spPr>
          <a:xfrm>
            <a:off x="684000" y="3391200"/>
            <a:ext cx="10512000" cy="4435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Microsoft YaHei"/>
              </a:rPr>
              <a:t>OAuth → Patient → $everything → </a:t>
            </a:r>
            <a:r>
              <a:rPr b="1" lang="zh-CN" sz="2100" spc="-1" strike="noStrike">
                <a:solidFill>
                  <a:srgbClr val="ffffff"/>
                </a:solidFill>
                <a:latin typeface="Microsoft YaHei"/>
              </a:rPr>
              <a:t>發碼 → </a:t>
            </a:r>
            <a:r>
              <a:rPr b="1" lang="en-US" sz="2100" spc="-1" strike="noStrike">
                <a:solidFill>
                  <a:srgbClr val="ffffff"/>
                </a:solidFill>
                <a:latin typeface="Microsoft YaHei"/>
              </a:rPr>
              <a:t>QR</a:t>
            </a:r>
            <a:endParaRPr b="1" lang="en-US" sz="21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828000" y="3700800"/>
            <a:ext cx="102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250" spc="-1" strike="noStrike">
                <a:solidFill>
                  <a:srgbClr val="ffffff"/>
                </a:solidFill>
                <a:latin typeface="Microsoft YaHei"/>
              </a:rPr>
              <a:t>本機 </a:t>
            </a:r>
            <a:r>
              <a:rPr b="0" lang="en-US" sz="1250" spc="-1" strike="noStrike">
                <a:solidFill>
                  <a:srgbClr val="ffffff"/>
                </a:solidFill>
                <a:latin typeface="Microsoft YaHei"/>
              </a:rPr>
              <a:t>8091 </a:t>
            </a:r>
            <a:r>
              <a:rPr b="0" lang="zh-CN" sz="1250" spc="-1" strike="noStrike">
                <a:solidFill>
                  <a:srgbClr val="ffffff"/>
                </a:solidFill>
                <a:latin typeface="Microsoft YaHei"/>
              </a:rPr>
              <a:t>實際流程完整通過；無 </a:t>
            </a:r>
            <a:r>
              <a:rPr b="0" lang="en-US" sz="1250" spc="-1" strike="noStrike">
                <a:solidFill>
                  <a:srgbClr val="ffffff"/>
                </a:solidFill>
                <a:latin typeface="Microsoft YaHei"/>
              </a:rPr>
              <a:t>failed request</a:t>
            </a:r>
            <a:r>
              <a:rPr b="0" lang="zh-CN" sz="1250" spc="-1" strike="noStrike">
                <a:solidFill>
                  <a:srgbClr val="ffffff"/>
                </a:solidFill>
                <a:latin typeface="Microsoft YaHei"/>
              </a:rPr>
              <a:t>、</a:t>
            </a:r>
            <a:r>
              <a:rPr b="0" lang="en-US" sz="1250" spc="-1" strike="noStrike">
                <a:solidFill>
                  <a:srgbClr val="ffffff"/>
                </a:solidFill>
                <a:latin typeface="Microsoft YaHei"/>
              </a:rPr>
              <a:t>4xx </a:t>
            </a:r>
            <a:r>
              <a:rPr b="0" lang="zh-CN" sz="1250" spc="-1" strike="noStrike">
                <a:solidFill>
                  <a:srgbClr val="ffffff"/>
                </a:solidFill>
                <a:latin typeface="Microsoft YaHei"/>
              </a:rPr>
              <a:t>或 </a:t>
            </a:r>
            <a:r>
              <a:rPr b="0" lang="en-US" sz="1250" spc="-1" strike="noStrike">
                <a:solidFill>
                  <a:srgbClr val="ffffff"/>
                </a:solidFill>
                <a:latin typeface="Microsoft YaHei"/>
              </a:rPr>
              <a:t>console error</a:t>
            </a:r>
            <a:endParaRPr b="0" lang="en-US" sz="12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21" name=""/>
          <p:cNvSpPr/>
          <p:nvPr/>
        </p:nvSpPr>
        <p:spPr>
          <a:xfrm>
            <a:off x="450000" y="4348800"/>
            <a:ext cx="5328000" cy="13500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322" name=""/>
          <p:cNvSpPr txBox="1"/>
          <p:nvPr/>
        </p:nvSpPr>
        <p:spPr>
          <a:xfrm>
            <a:off x="655200" y="4492800"/>
            <a:ext cx="4914000" cy="350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600" spc="-1" strike="noStrike">
                <a:solidFill>
                  <a:srgbClr val="0a336b"/>
                </a:solidFill>
                <a:latin typeface="Microsoft YaHei"/>
              </a:rPr>
              <a:t>Integration Backend ↔ HAPI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55200" y="4806000"/>
            <a:ext cx="484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Compose config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Backend health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通過；由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Backend container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取得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CapabilityStatement HTTP 200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。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24" name=""/>
          <p:cNvSpPr/>
          <p:nvPr/>
        </p:nvSpPr>
        <p:spPr>
          <a:xfrm>
            <a:off x="5976000" y="4348800"/>
            <a:ext cx="5454000" cy="1350000"/>
          </a:xfrm>
          <a:prstGeom prst="roundRect">
            <a:avLst/>
          </a:prstGeom>
          <a:solidFill>
            <a:srgbClr val="fff4b8"/>
          </a:solidFill>
          <a:ln w="0">
            <a:noFill/>
          </a:ln>
        </p:spPr>
      </p:sp>
      <p:sp>
        <p:nvSpPr>
          <p:cNvPr id="325" name=""/>
          <p:cNvSpPr txBox="1"/>
          <p:nvPr/>
        </p:nvSpPr>
        <p:spPr>
          <a:xfrm>
            <a:off x="6174000" y="4492800"/>
            <a:ext cx="180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600" spc="-1" strike="noStrike">
                <a:solidFill>
                  <a:srgbClr val="0a336b"/>
                </a:solidFill>
                <a:latin typeface="Microsoft YaHei"/>
              </a:rPr>
              <a:t>驗證邊界</a:t>
            </a:r>
            <a:endParaRPr b="1" lang="en-US" sz="16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6174000" y="4806000"/>
            <a:ext cx="4986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未使用既有病例執行測試寫入；正式環境仍需院方核准的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endpoint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credential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、身分與治理。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AGENTIC AI EVALUATION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39200" y="527040"/>
            <a:ext cx="8640000" cy="57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雙 </a:t>
            </a:r>
            <a:r>
              <a:rPr b="1" lang="en-US" sz="2800" spc="-1" strike="noStrike">
                <a:solidFill>
                  <a:srgbClr val="0a336b"/>
                </a:solidFill>
                <a:latin typeface="Microsoft YaHei"/>
              </a:rPr>
              <a:t>Agent DDX </a:t>
            </a:r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研究線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29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30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08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31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33" name=""/>
          <p:cNvSpPr/>
          <p:nvPr/>
        </p:nvSpPr>
        <p:spPr>
          <a:xfrm>
            <a:off x="450000" y="1278000"/>
            <a:ext cx="3492000" cy="15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34" name=""/>
          <p:cNvSpPr/>
          <p:nvPr/>
        </p:nvSpPr>
        <p:spPr>
          <a:xfrm>
            <a:off x="450000" y="1278000"/>
            <a:ext cx="3492000" cy="100800"/>
          </a:xfrm>
          <a:prstGeom prst="rect">
            <a:avLst/>
          </a:prstGeom>
          <a:solidFill>
            <a:srgbClr val="4ab5c4"/>
          </a:solidFill>
          <a:ln w="0">
            <a:noFill/>
          </a:ln>
        </p:spPr>
      </p:sp>
      <p:sp>
        <p:nvSpPr>
          <p:cNvPr id="335" name=""/>
          <p:cNvSpPr txBox="1"/>
          <p:nvPr/>
        </p:nvSpPr>
        <p:spPr>
          <a:xfrm>
            <a:off x="648000" y="1432800"/>
            <a:ext cx="3096000" cy="35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0a336b"/>
                </a:solidFill>
                <a:latin typeface="Microsoft YaHei"/>
              </a:rPr>
              <a:t>Doctor agent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48000" y="1818000"/>
            <a:ext cx="3096000" cy="10504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只看病歷、公開逐字稿與問卷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先問 </a:t>
            </a:r>
            <a:r>
              <a:rPr b="0" lang="en-US" sz="1240" spc="-1" strike="noStrike">
                <a:solidFill>
                  <a:srgbClr val="263a4d"/>
                </a:solidFill>
                <a:latin typeface="Microsoft YaHei"/>
              </a:rPr>
              <a:t>CC</a:t>
            </a: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，再依治理 </a:t>
            </a:r>
            <a:r>
              <a:rPr b="0" lang="en-US" sz="1240" spc="-1" strike="noStrike">
                <a:solidFill>
                  <a:srgbClr val="263a4d"/>
                </a:solidFill>
                <a:latin typeface="Microsoft YaHei"/>
              </a:rPr>
              <a:t>catalog </a:t>
            </a: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選卷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37" name=""/>
          <p:cNvSpPr/>
          <p:nvPr/>
        </p:nvSpPr>
        <p:spPr>
          <a:xfrm>
            <a:off x="4194000" y="1278000"/>
            <a:ext cx="3492000" cy="15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38" name=""/>
          <p:cNvSpPr/>
          <p:nvPr/>
        </p:nvSpPr>
        <p:spPr>
          <a:xfrm>
            <a:off x="4194000" y="1278000"/>
            <a:ext cx="3492000" cy="1008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39" name=""/>
          <p:cNvSpPr txBox="1"/>
          <p:nvPr/>
        </p:nvSpPr>
        <p:spPr>
          <a:xfrm>
            <a:off x="4392000" y="1432800"/>
            <a:ext cx="3096000" cy="35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0a336b"/>
                </a:solidFill>
                <a:latin typeface="Microsoft YaHei"/>
              </a:rPr>
              <a:t>Patient agent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392000" y="1818000"/>
            <a:ext cx="3096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只看隱藏的合成症狀事實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回答必須引用本機允許的 </a:t>
            </a:r>
            <a:r>
              <a:rPr b="0" lang="en-US" sz="1240" spc="-1" strike="noStrike">
                <a:solidFill>
                  <a:srgbClr val="263a4d"/>
                </a:solidFill>
                <a:latin typeface="Microsoft YaHei"/>
              </a:rPr>
              <a:t>fact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41" name=""/>
          <p:cNvSpPr/>
          <p:nvPr/>
        </p:nvSpPr>
        <p:spPr>
          <a:xfrm>
            <a:off x="7938000" y="1278000"/>
            <a:ext cx="3492000" cy="1530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42" name=""/>
          <p:cNvSpPr/>
          <p:nvPr/>
        </p:nvSpPr>
        <p:spPr>
          <a:xfrm>
            <a:off x="7938000" y="1278000"/>
            <a:ext cx="3492000" cy="100800"/>
          </a:xfrm>
          <a:prstGeom prst="rect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343" name=""/>
          <p:cNvSpPr txBox="1"/>
          <p:nvPr/>
        </p:nvSpPr>
        <p:spPr>
          <a:xfrm>
            <a:off x="8136000" y="1432800"/>
            <a:ext cx="3096000" cy="35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650" spc="-1" strike="noStrike">
                <a:solidFill>
                  <a:srgbClr val="0a336b"/>
                </a:solidFill>
                <a:latin typeface="Microsoft YaHei"/>
              </a:rPr>
              <a:t>Judge agent</a:t>
            </a:r>
            <a:endParaRPr b="1" lang="en-US" sz="16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136000" y="1818000"/>
            <a:ext cx="3096000" cy="946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只在結束後比較 </a:t>
            </a:r>
            <a:r>
              <a:rPr b="0" lang="en-US" sz="1240" spc="-1" strike="noStrike">
                <a:solidFill>
                  <a:srgbClr val="263a4d"/>
                </a:solidFill>
                <a:latin typeface="Microsoft YaHei"/>
              </a:rPr>
              <a:t>Top-5 </a:t>
            </a: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與 </a:t>
            </a:r>
            <a:r>
              <a:rPr b="0" lang="en-US" sz="1240" spc="-1" strike="noStrike">
                <a:solidFill>
                  <a:srgbClr val="263a4d"/>
                </a:solidFill>
                <a:latin typeface="Microsoft YaHei"/>
              </a:rPr>
              <a:t>reference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  <a:p>
            <a:pPr algn="ctr">
              <a:buNone/>
            </a:pPr>
            <a:r>
              <a:rPr b="0" lang="zh-CN" sz="1240" spc="-1" strike="noStrike">
                <a:solidFill>
                  <a:srgbClr val="263a4d"/>
                </a:solidFill>
                <a:latin typeface="Microsoft YaHei"/>
              </a:rPr>
              <a:t>本機驗證矩陣並確定性計分</a:t>
            </a:r>
            <a:endParaRPr b="0" lang="en-US" sz="124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3772800" y="1828800"/>
            <a:ext cx="396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516800" y="1828800"/>
            <a:ext cx="396000" cy="48168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2300" spc="-1" strike="noStrike">
                <a:solidFill>
                  <a:srgbClr val="349e81"/>
                </a:solidFill>
                <a:latin typeface="Microsoft YaHei"/>
              </a:rPr>
              <a:t>→</a:t>
            </a:r>
            <a:endParaRPr b="1" lang="en-US" sz="230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47" name=""/>
          <p:cNvSpPr/>
          <p:nvPr/>
        </p:nvSpPr>
        <p:spPr>
          <a:xfrm>
            <a:off x="450000" y="3067200"/>
            <a:ext cx="10980000" cy="2736000"/>
          </a:xfrm>
          <a:prstGeom prst="roundRect">
            <a:avLst/>
          </a:prstGeom>
          <a:solidFill>
            <a:srgbClr val="f6f8fa"/>
          </a:solidFill>
          <a:ln w="0">
            <a:noFill/>
          </a:ln>
        </p:spPr>
      </p:sp>
      <p:sp>
        <p:nvSpPr>
          <p:cNvPr id="348" name=""/>
          <p:cNvSpPr txBox="1"/>
          <p:nvPr/>
        </p:nvSpPr>
        <p:spPr>
          <a:xfrm>
            <a:off x="666000" y="3222000"/>
            <a:ext cx="504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既有兩次 </a:t>
            </a:r>
            <a:r>
              <a:rPr b="1" lang="en-US" sz="1700" spc="-1" strike="noStrike">
                <a:solidFill>
                  <a:srgbClr val="0a336b"/>
                </a:solidFill>
                <a:latin typeface="Microsoft YaHei"/>
              </a:rPr>
              <a:t>batch </a:t>
            </a:r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稽核（修正前）｜</a:t>
            </a:r>
            <a:r>
              <a:rPr b="1" lang="en-US" sz="1700" spc="-1" strike="noStrike">
                <a:solidFill>
                  <a:srgbClr val="0a336b"/>
                </a:solidFill>
                <a:latin typeface="Microsoft YaHei"/>
              </a:rPr>
              <a:t>32 </a:t>
            </a:r>
            <a:r>
              <a:rPr b="1" lang="zh-CN" sz="1700" spc="-1" strike="noStrike">
                <a:solidFill>
                  <a:srgbClr val="0a336b"/>
                </a:solidFill>
                <a:latin typeface="Microsoft YaHei"/>
              </a:rPr>
              <a:t>案</a:t>
            </a:r>
            <a:endParaRPr b="1" lang="en-US" sz="17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49" name=""/>
          <p:cNvSpPr/>
          <p:nvPr/>
        </p:nvSpPr>
        <p:spPr>
          <a:xfrm>
            <a:off x="666000" y="3690000"/>
            <a:ext cx="4095000" cy="3780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50" name=""/>
          <p:cNvSpPr/>
          <p:nvPr/>
        </p:nvSpPr>
        <p:spPr>
          <a:xfrm>
            <a:off x="4761000" y="3690000"/>
            <a:ext cx="1433160" cy="378000"/>
          </a:xfrm>
          <a:prstGeom prst="roundRect">
            <a:avLst/>
          </a:prstGeom>
          <a:solidFill>
            <a:srgbClr val="e99a3f"/>
          </a:solidFill>
          <a:ln w="0">
            <a:noFill/>
          </a:ln>
        </p:spPr>
      </p:sp>
      <p:sp>
        <p:nvSpPr>
          <p:cNvPr id="351" name=""/>
          <p:cNvSpPr/>
          <p:nvPr/>
        </p:nvSpPr>
        <p:spPr>
          <a:xfrm>
            <a:off x="6194160" y="3690000"/>
            <a:ext cx="1023840" cy="378000"/>
          </a:xfrm>
          <a:prstGeom prst="roundRect">
            <a:avLst/>
          </a:prstGeom>
          <a:solidFill>
            <a:srgbClr val="c74b5d"/>
          </a:solidFill>
          <a:ln w="0">
            <a:noFill/>
          </a:ln>
        </p:spPr>
      </p:sp>
      <p:sp>
        <p:nvSpPr>
          <p:cNvPr id="352" name=""/>
          <p:cNvSpPr txBox="1"/>
          <p:nvPr/>
        </p:nvSpPr>
        <p:spPr>
          <a:xfrm>
            <a:off x="666000" y="4132800"/>
            <a:ext cx="1944000" cy="2822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220" spc="-1" strike="noStrike">
                <a:solidFill>
                  <a:srgbClr val="349e81"/>
                </a:solidFill>
                <a:latin typeface="Microsoft YaHei"/>
              </a:rPr>
              <a:t>62.5%</a:t>
            </a:r>
            <a:endParaRPr b="1" lang="en-US" sz="122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916800" y="4132800"/>
            <a:ext cx="1566000" cy="2822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220" spc="-1" strike="noStrike">
                <a:solidFill>
                  <a:srgbClr val="e99a3f"/>
                </a:solidFill>
                <a:latin typeface="Microsoft YaHei"/>
              </a:rPr>
              <a:t>21.9%</a:t>
            </a:r>
            <a:endParaRPr b="1" lang="en-US" sz="1220" spc="-1" strike="noStrike">
              <a:solidFill>
                <a:srgbClr val="e99a3f"/>
              </a:solidFill>
              <a:latin typeface="Microsoft YaHei"/>
              <a:ea typeface="Microsoft YaHei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508000" y="4132800"/>
            <a:ext cx="1692000" cy="2822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en-US" sz="1220" spc="-1" strike="noStrike">
                <a:solidFill>
                  <a:srgbClr val="c74b5d"/>
                </a:solidFill>
                <a:latin typeface="Microsoft YaHei"/>
              </a:rPr>
              <a:t>15.6%</a:t>
            </a:r>
            <a:endParaRPr b="1" lang="en-US" sz="1220" spc="-1" strike="noStrike">
              <a:solidFill>
                <a:srgbClr val="c74b5d"/>
              </a:solidFill>
              <a:latin typeface="Microsoft YaHei"/>
              <a:ea typeface="Microsoft YaHei"/>
            </a:endParaRPr>
          </a:p>
        </p:txBody>
      </p:sp>
      <p:sp>
        <p:nvSpPr>
          <p:cNvPr id="355" name=""/>
          <p:cNvSpPr/>
          <p:nvPr/>
        </p:nvSpPr>
        <p:spPr>
          <a:xfrm>
            <a:off x="7596000" y="3402000"/>
            <a:ext cx="122400" cy="1224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56" name=""/>
          <p:cNvSpPr txBox="1"/>
          <p:nvPr/>
        </p:nvSpPr>
        <p:spPr>
          <a:xfrm>
            <a:off x="7783200" y="33408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263a4d"/>
                </a:solidFill>
                <a:latin typeface="Microsoft YaHei"/>
              </a:rPr>
              <a:t>20 </a:t>
            </a:r>
            <a:r>
              <a:rPr b="1" lang="zh-CN" sz="1300" spc="-1" strike="noStrike">
                <a:solidFill>
                  <a:srgbClr val="263a4d"/>
                </a:solidFill>
                <a:latin typeface="Microsoft YaHei"/>
              </a:rPr>
              <a:t>成功</a:t>
            </a:r>
            <a:endParaRPr b="1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57" name=""/>
          <p:cNvSpPr/>
          <p:nvPr/>
        </p:nvSpPr>
        <p:spPr>
          <a:xfrm>
            <a:off x="7596000" y="3762000"/>
            <a:ext cx="122400" cy="122400"/>
          </a:xfrm>
          <a:prstGeom prst="roundRect">
            <a:avLst/>
          </a:prstGeom>
          <a:solidFill>
            <a:srgbClr val="e99a3f"/>
          </a:solidFill>
          <a:ln w="0">
            <a:noFill/>
          </a:ln>
        </p:spPr>
      </p:sp>
      <p:sp>
        <p:nvSpPr>
          <p:cNvPr id="358" name=""/>
          <p:cNvSpPr txBox="1"/>
          <p:nvPr/>
        </p:nvSpPr>
        <p:spPr>
          <a:xfrm>
            <a:off x="7783200" y="37008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7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安全 </a:t>
            </a:r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abstain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59" name=""/>
          <p:cNvSpPr/>
          <p:nvPr/>
        </p:nvSpPr>
        <p:spPr>
          <a:xfrm>
            <a:off x="7596000" y="4122000"/>
            <a:ext cx="122400" cy="122400"/>
          </a:xfrm>
          <a:prstGeom prst="roundRect">
            <a:avLst/>
          </a:prstGeom>
          <a:solidFill>
            <a:srgbClr val="c74b5d"/>
          </a:solidFill>
          <a:ln w="0">
            <a:noFill/>
          </a:ln>
        </p:spPr>
      </p:sp>
      <p:sp>
        <p:nvSpPr>
          <p:cNvPr id="360" name=""/>
          <p:cNvSpPr txBox="1"/>
          <p:nvPr/>
        </p:nvSpPr>
        <p:spPr>
          <a:xfrm>
            <a:off x="7783200" y="4060800"/>
            <a:ext cx="30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00" spc="-1" strike="noStrike">
                <a:solidFill>
                  <a:srgbClr val="263a4d"/>
                </a:solidFill>
                <a:latin typeface="Microsoft YaHei"/>
              </a:rPr>
              <a:t>5 judge </a:t>
            </a:r>
            <a:r>
              <a:rPr b="0" lang="zh-CN" sz="1300" spc="-1" strike="noStrike">
                <a:solidFill>
                  <a:srgbClr val="263a4d"/>
                </a:solidFill>
                <a:latin typeface="Microsoft YaHei"/>
              </a:rPr>
              <a:t>契約</a:t>
            </a:r>
            <a:endParaRPr b="0" lang="en-US" sz="130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61" name=""/>
          <p:cNvSpPr/>
          <p:nvPr/>
        </p:nvSpPr>
        <p:spPr>
          <a:xfrm>
            <a:off x="666000" y="4698000"/>
            <a:ext cx="10404000" cy="8100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362" name=""/>
          <p:cNvSpPr txBox="1"/>
          <p:nvPr/>
        </p:nvSpPr>
        <p:spPr>
          <a:xfrm>
            <a:off x="846000" y="4842000"/>
            <a:ext cx="11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最新修正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998000" y="4806000"/>
            <a:ext cx="880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transient API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有限退避重試＋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judge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契約可在原操作內修正一次；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88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項離線測試通過，但尚未重跑外部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Gemini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全批次。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VERIFICATION EVIDENCE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驗證證據：目前已驗證到哪裡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366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367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09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68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370" name=""/>
          <p:cNvSpPr/>
          <p:nvPr/>
        </p:nvSpPr>
        <p:spPr>
          <a:xfrm>
            <a:off x="450000" y="1278000"/>
            <a:ext cx="2160000" cy="378000"/>
          </a:xfrm>
          <a:prstGeom prst="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371" name=""/>
          <p:cNvSpPr txBox="1"/>
          <p:nvPr/>
        </p:nvSpPr>
        <p:spPr>
          <a:xfrm>
            <a:off x="504000" y="1353600"/>
            <a:ext cx="205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Microsoft YaHei"/>
              </a:rPr>
              <a:t>範圍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72" name=""/>
          <p:cNvSpPr/>
          <p:nvPr/>
        </p:nvSpPr>
        <p:spPr>
          <a:xfrm>
            <a:off x="2610000" y="1278000"/>
            <a:ext cx="6804000" cy="378000"/>
          </a:xfrm>
          <a:prstGeom prst="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373" name=""/>
          <p:cNvSpPr txBox="1"/>
          <p:nvPr/>
        </p:nvSpPr>
        <p:spPr>
          <a:xfrm>
            <a:off x="2664000" y="1353600"/>
            <a:ext cx="6696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Microsoft YaHei"/>
              </a:rPr>
              <a:t>實際執行／觀察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74" name=""/>
          <p:cNvSpPr/>
          <p:nvPr/>
        </p:nvSpPr>
        <p:spPr>
          <a:xfrm>
            <a:off x="9414000" y="1278000"/>
            <a:ext cx="2016000" cy="378000"/>
          </a:xfrm>
          <a:prstGeom prst="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375" name=""/>
          <p:cNvSpPr txBox="1"/>
          <p:nvPr/>
        </p:nvSpPr>
        <p:spPr>
          <a:xfrm>
            <a:off x="9468000" y="1353600"/>
            <a:ext cx="190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400" spc="-1" strike="noStrike">
                <a:solidFill>
                  <a:srgbClr val="ffffff"/>
                </a:solidFill>
                <a:latin typeface="Microsoft YaHei"/>
              </a:rPr>
              <a:t>結果</a:t>
            </a:r>
            <a:endParaRPr b="1" lang="en-US" sz="1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76" name=""/>
          <p:cNvSpPr/>
          <p:nvPr/>
        </p:nvSpPr>
        <p:spPr>
          <a:xfrm>
            <a:off x="450000" y="1702800"/>
            <a:ext cx="2160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77" name=""/>
          <p:cNvSpPr txBox="1"/>
          <p:nvPr/>
        </p:nvSpPr>
        <p:spPr>
          <a:xfrm>
            <a:off x="536400" y="1808640"/>
            <a:ext cx="1987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263a4d"/>
                </a:solidFill>
                <a:latin typeface="Microsoft YaHei"/>
              </a:rPr>
              <a:t>Frontend v0.13.2</a:t>
            </a:r>
            <a:endParaRPr b="1" lang="en-US" sz="12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78" name=""/>
          <p:cNvSpPr/>
          <p:nvPr/>
        </p:nvSpPr>
        <p:spPr>
          <a:xfrm>
            <a:off x="2610000" y="1702800"/>
            <a:ext cx="6804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79" name=""/>
          <p:cNvSpPr txBox="1"/>
          <p:nvPr/>
        </p:nvSpPr>
        <p:spPr>
          <a:xfrm>
            <a:off x="2696400" y="1808640"/>
            <a:ext cx="6631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18 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個測試檔、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production build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OpenAPI type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diff check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80" name=""/>
          <p:cNvSpPr/>
          <p:nvPr/>
        </p:nvSpPr>
        <p:spPr>
          <a:xfrm>
            <a:off x="9414000" y="1702800"/>
            <a:ext cx="2016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81" name=""/>
          <p:cNvSpPr txBox="1"/>
          <p:nvPr/>
        </p:nvSpPr>
        <p:spPr>
          <a:xfrm>
            <a:off x="9500400" y="1808640"/>
            <a:ext cx="1843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349e81"/>
                </a:solidFill>
                <a:latin typeface="Microsoft YaHei"/>
              </a:rPr>
              <a:t>PASS</a:t>
            </a:r>
            <a:endParaRPr b="1" lang="en-US" sz="123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82" name=""/>
          <p:cNvSpPr/>
          <p:nvPr/>
        </p:nvSpPr>
        <p:spPr>
          <a:xfrm>
            <a:off x="450000" y="2343600"/>
            <a:ext cx="2160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83" name=""/>
          <p:cNvSpPr txBox="1"/>
          <p:nvPr/>
        </p:nvSpPr>
        <p:spPr>
          <a:xfrm>
            <a:off x="536400" y="2449440"/>
            <a:ext cx="1987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zh-CN" sz="1230" spc="-1" strike="noStrike">
                <a:solidFill>
                  <a:srgbClr val="263a4d"/>
                </a:solidFill>
                <a:latin typeface="Microsoft YaHei"/>
              </a:rPr>
              <a:t>桌機／手機 </a:t>
            </a:r>
            <a:r>
              <a:rPr b="1" lang="en-US" sz="1230" spc="-1" strike="noStrike">
                <a:solidFill>
                  <a:srgbClr val="263a4d"/>
                </a:solidFill>
                <a:latin typeface="Microsoft YaHei"/>
              </a:rPr>
              <a:t>UI</a:t>
            </a:r>
            <a:endParaRPr b="1" lang="en-US" sz="12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84" name=""/>
          <p:cNvSpPr/>
          <p:nvPr/>
        </p:nvSpPr>
        <p:spPr>
          <a:xfrm>
            <a:off x="2610000" y="2343600"/>
            <a:ext cx="6804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85" name=""/>
          <p:cNvSpPr txBox="1"/>
          <p:nvPr/>
        </p:nvSpPr>
        <p:spPr>
          <a:xfrm>
            <a:off x="2696400" y="2449440"/>
            <a:ext cx="6631200" cy="6055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1280×900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390×844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：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dialog 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可捲到底、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footer 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可見、送出成功，無 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console error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86" name=""/>
          <p:cNvSpPr/>
          <p:nvPr/>
        </p:nvSpPr>
        <p:spPr>
          <a:xfrm>
            <a:off x="9414000" y="2343600"/>
            <a:ext cx="2016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87" name=""/>
          <p:cNvSpPr txBox="1"/>
          <p:nvPr/>
        </p:nvSpPr>
        <p:spPr>
          <a:xfrm>
            <a:off x="9500400" y="2449440"/>
            <a:ext cx="1843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349e81"/>
                </a:solidFill>
                <a:latin typeface="Microsoft YaHei"/>
              </a:rPr>
              <a:t>PASS</a:t>
            </a:r>
            <a:endParaRPr b="1" lang="en-US" sz="123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88" name=""/>
          <p:cNvSpPr/>
          <p:nvPr/>
        </p:nvSpPr>
        <p:spPr>
          <a:xfrm>
            <a:off x="450000" y="2984400"/>
            <a:ext cx="2160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89" name=""/>
          <p:cNvSpPr txBox="1"/>
          <p:nvPr/>
        </p:nvSpPr>
        <p:spPr>
          <a:xfrm>
            <a:off x="536400" y="3090240"/>
            <a:ext cx="1987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263a4d"/>
                </a:solidFill>
                <a:latin typeface="Microsoft YaHei"/>
              </a:rPr>
              <a:t>SMART Launcher</a:t>
            </a:r>
            <a:endParaRPr b="1" lang="en-US" sz="12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90" name=""/>
          <p:cNvSpPr/>
          <p:nvPr/>
        </p:nvSpPr>
        <p:spPr>
          <a:xfrm>
            <a:off x="2610000" y="2984400"/>
            <a:ext cx="6804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91" name=""/>
          <p:cNvSpPr txBox="1"/>
          <p:nvPr/>
        </p:nvSpPr>
        <p:spPr>
          <a:xfrm>
            <a:off x="2696400" y="3090240"/>
            <a:ext cx="6631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OAuth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Patient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、分頁 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$everything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、發碼與 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QR 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完整流程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92" name=""/>
          <p:cNvSpPr/>
          <p:nvPr/>
        </p:nvSpPr>
        <p:spPr>
          <a:xfrm>
            <a:off x="9414000" y="2984400"/>
            <a:ext cx="2016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393" name=""/>
          <p:cNvSpPr txBox="1"/>
          <p:nvPr/>
        </p:nvSpPr>
        <p:spPr>
          <a:xfrm>
            <a:off x="9500400" y="3090240"/>
            <a:ext cx="1843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349e81"/>
                </a:solidFill>
                <a:latin typeface="Microsoft YaHei"/>
              </a:rPr>
              <a:t>PASS</a:t>
            </a:r>
            <a:endParaRPr b="1" lang="en-US" sz="123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394" name=""/>
          <p:cNvSpPr/>
          <p:nvPr/>
        </p:nvSpPr>
        <p:spPr>
          <a:xfrm>
            <a:off x="450000" y="3625200"/>
            <a:ext cx="2160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95" name=""/>
          <p:cNvSpPr txBox="1"/>
          <p:nvPr/>
        </p:nvSpPr>
        <p:spPr>
          <a:xfrm>
            <a:off x="536400" y="3731040"/>
            <a:ext cx="1987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263a4d"/>
                </a:solidFill>
                <a:latin typeface="Microsoft YaHei"/>
              </a:rPr>
              <a:t>LLM experiments</a:t>
            </a:r>
            <a:endParaRPr b="1" lang="en-US" sz="12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96" name=""/>
          <p:cNvSpPr/>
          <p:nvPr/>
        </p:nvSpPr>
        <p:spPr>
          <a:xfrm>
            <a:off x="2610000" y="3625200"/>
            <a:ext cx="6804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97" name=""/>
          <p:cNvSpPr txBox="1"/>
          <p:nvPr/>
        </p:nvSpPr>
        <p:spPr>
          <a:xfrm>
            <a:off x="2696400" y="3731040"/>
            <a:ext cx="6631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88 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項離線測試、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Ruff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format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compileall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398" name=""/>
          <p:cNvSpPr/>
          <p:nvPr/>
        </p:nvSpPr>
        <p:spPr>
          <a:xfrm>
            <a:off x="9414000" y="3625200"/>
            <a:ext cx="2016000" cy="640800"/>
          </a:xfrm>
          <a:prstGeom prst="rect">
            <a:avLst/>
          </a:prstGeom>
          <a:solidFill>
            <a:srgbClr val="f6f8fa"/>
          </a:solidFill>
          <a:ln w="9000">
            <a:solidFill>
              <a:srgbClr val="d7e2e8"/>
            </a:solidFill>
            <a:round/>
          </a:ln>
        </p:spPr>
      </p:sp>
      <p:sp>
        <p:nvSpPr>
          <p:cNvPr id="399" name=""/>
          <p:cNvSpPr txBox="1"/>
          <p:nvPr/>
        </p:nvSpPr>
        <p:spPr>
          <a:xfrm>
            <a:off x="9500400" y="3731040"/>
            <a:ext cx="1843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349e81"/>
                </a:solidFill>
                <a:latin typeface="Microsoft YaHei"/>
              </a:rPr>
              <a:t>PASS</a:t>
            </a:r>
            <a:endParaRPr b="1" lang="en-US" sz="123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00" name=""/>
          <p:cNvSpPr/>
          <p:nvPr/>
        </p:nvSpPr>
        <p:spPr>
          <a:xfrm>
            <a:off x="450000" y="4266000"/>
            <a:ext cx="2160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01" name=""/>
          <p:cNvSpPr txBox="1"/>
          <p:nvPr/>
        </p:nvSpPr>
        <p:spPr>
          <a:xfrm>
            <a:off x="536400" y="4371840"/>
            <a:ext cx="1987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263a4d"/>
                </a:solidFill>
                <a:latin typeface="Microsoft YaHei"/>
              </a:rPr>
              <a:t>FHIR integration</a:t>
            </a:r>
            <a:endParaRPr b="1" lang="en-US" sz="12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02" name=""/>
          <p:cNvSpPr/>
          <p:nvPr/>
        </p:nvSpPr>
        <p:spPr>
          <a:xfrm>
            <a:off x="2610000" y="4266000"/>
            <a:ext cx="6804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03" name=""/>
          <p:cNvSpPr txBox="1"/>
          <p:nvPr/>
        </p:nvSpPr>
        <p:spPr>
          <a:xfrm>
            <a:off x="2696400" y="4371840"/>
            <a:ext cx="6631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Compose config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Backend health</a:t>
            </a:r>
            <a:r>
              <a:rPr b="0" lang="zh-CN" sz="11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180" spc="-1" strike="noStrike">
                <a:solidFill>
                  <a:srgbClr val="263a4d"/>
                </a:solidFill>
                <a:latin typeface="Microsoft YaHei"/>
              </a:rPr>
              <a:t>HAPI metadata HTTP 200</a:t>
            </a:r>
            <a:endParaRPr b="0" lang="en-US" sz="11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04" name=""/>
          <p:cNvSpPr/>
          <p:nvPr/>
        </p:nvSpPr>
        <p:spPr>
          <a:xfrm>
            <a:off x="9414000" y="4266000"/>
            <a:ext cx="2016000" cy="640800"/>
          </a:xfrm>
          <a:prstGeom prst="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05" name=""/>
          <p:cNvSpPr txBox="1"/>
          <p:nvPr/>
        </p:nvSpPr>
        <p:spPr>
          <a:xfrm>
            <a:off x="9500400" y="4371840"/>
            <a:ext cx="18432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230" spc="-1" strike="noStrike">
                <a:solidFill>
                  <a:srgbClr val="349e81"/>
                </a:solidFill>
                <a:latin typeface="Microsoft YaHei"/>
              </a:rPr>
              <a:t>PASS</a:t>
            </a:r>
            <a:endParaRPr b="1" lang="en-US" sz="123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06" name=""/>
          <p:cNvSpPr/>
          <p:nvPr/>
        </p:nvSpPr>
        <p:spPr>
          <a:xfrm>
            <a:off x="450000" y="5094000"/>
            <a:ext cx="10980000" cy="738000"/>
          </a:xfrm>
          <a:prstGeom prst="roundRect">
            <a:avLst/>
          </a:prstGeom>
          <a:solidFill>
            <a:srgbClr val="fff4b8"/>
          </a:solidFill>
          <a:ln w="0">
            <a:noFill/>
          </a:ln>
        </p:spPr>
      </p:sp>
      <p:sp>
        <p:nvSpPr>
          <p:cNvPr id="407" name=""/>
          <p:cNvSpPr txBox="1"/>
          <p:nvPr/>
        </p:nvSpPr>
        <p:spPr>
          <a:xfrm>
            <a:off x="630000" y="5227200"/>
            <a:ext cx="226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待補實體／院方 </a:t>
            </a: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E2E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2682000" y="5194800"/>
            <a:ext cx="8442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iOS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Android 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實體相機、院方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OAuth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SSO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、正式 </a:t>
            </a:r>
            <a:r>
              <a:rPr b="0" lang="en-US" sz="1320" spc="-1" strike="noStrike">
                <a:solidFill>
                  <a:srgbClr val="263a4d"/>
                </a:solidFill>
                <a:latin typeface="Microsoft YaHei"/>
              </a:rPr>
              <a:t>HAPI/TW Core validator</a:t>
            </a:r>
            <a:r>
              <a:rPr b="0" lang="zh-CN" sz="1320" spc="-1" strike="noStrike">
                <a:solidFill>
                  <a:srgbClr val="263a4d"/>
                </a:solidFill>
                <a:latin typeface="Microsoft YaHei"/>
              </a:rPr>
              <a:t>、簽署與失敗復原流程。</a:t>
            </a:r>
            <a:endParaRPr b="0" lang="en-US" sz="132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CURRENT DOCUMENTED BASELINE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版本基線與發布狀態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11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412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10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13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15" name=""/>
          <p:cNvSpPr/>
          <p:nvPr/>
        </p:nvSpPr>
        <p:spPr>
          <a:xfrm>
            <a:off x="450000" y="1278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16" name=""/>
          <p:cNvSpPr txBox="1"/>
          <p:nvPr/>
        </p:nvSpPr>
        <p:spPr>
          <a:xfrm>
            <a:off x="622800" y="1393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Backend API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3402000" y="1386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v0.13.0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22800" y="1710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2026-08-27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19" name=""/>
          <p:cNvSpPr/>
          <p:nvPr/>
        </p:nvSpPr>
        <p:spPr>
          <a:xfrm>
            <a:off x="4284000" y="1674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20" name=""/>
          <p:cNvSpPr txBox="1"/>
          <p:nvPr/>
        </p:nvSpPr>
        <p:spPr>
          <a:xfrm>
            <a:off x="4320000" y="1710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開發基線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21" name=""/>
          <p:cNvSpPr/>
          <p:nvPr/>
        </p:nvSpPr>
        <p:spPr>
          <a:xfrm>
            <a:off x="450000" y="2286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22" name=""/>
          <p:cNvSpPr txBox="1"/>
          <p:nvPr/>
        </p:nvSpPr>
        <p:spPr>
          <a:xfrm>
            <a:off x="622800" y="2401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Vue frontend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3402000" y="2394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v0.13.2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22800" y="2718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25" name=""/>
          <p:cNvSpPr/>
          <p:nvPr/>
        </p:nvSpPr>
        <p:spPr>
          <a:xfrm>
            <a:off x="4284000" y="2682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26" name=""/>
          <p:cNvSpPr txBox="1"/>
          <p:nvPr/>
        </p:nvSpPr>
        <p:spPr>
          <a:xfrm>
            <a:off x="4320000" y="2718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開發版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27" name=""/>
          <p:cNvSpPr/>
          <p:nvPr/>
        </p:nvSpPr>
        <p:spPr>
          <a:xfrm>
            <a:off x="450000" y="3294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28" name=""/>
          <p:cNvSpPr txBox="1"/>
          <p:nvPr/>
        </p:nvSpPr>
        <p:spPr>
          <a:xfrm>
            <a:off x="622800" y="3409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Doctor frontend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402000" y="3402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v2.1.0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22800" y="3726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2026-08-09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31" name=""/>
          <p:cNvSpPr/>
          <p:nvPr/>
        </p:nvSpPr>
        <p:spPr>
          <a:xfrm>
            <a:off x="4284000" y="3690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32" name=""/>
          <p:cNvSpPr txBox="1"/>
          <p:nvPr/>
        </p:nvSpPr>
        <p:spPr>
          <a:xfrm>
            <a:off x="4320000" y="3726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正式線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33" name=""/>
          <p:cNvSpPr/>
          <p:nvPr/>
        </p:nvSpPr>
        <p:spPr>
          <a:xfrm>
            <a:off x="450000" y="4302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34" name=""/>
          <p:cNvSpPr txBox="1"/>
          <p:nvPr/>
        </p:nvSpPr>
        <p:spPr>
          <a:xfrm>
            <a:off x="622800" y="4417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Patient frontend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402000" y="4410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v2.1.0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622800" y="4734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2026-08-11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37" name=""/>
          <p:cNvSpPr/>
          <p:nvPr/>
        </p:nvSpPr>
        <p:spPr>
          <a:xfrm>
            <a:off x="4284000" y="4698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38" name=""/>
          <p:cNvSpPr txBox="1"/>
          <p:nvPr/>
        </p:nvSpPr>
        <p:spPr>
          <a:xfrm>
            <a:off x="4320000" y="4734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正式線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39" name=""/>
          <p:cNvSpPr/>
          <p:nvPr/>
        </p:nvSpPr>
        <p:spPr>
          <a:xfrm>
            <a:off x="6120000" y="1278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40" name=""/>
          <p:cNvSpPr txBox="1"/>
          <p:nvPr/>
        </p:nvSpPr>
        <p:spPr>
          <a:xfrm>
            <a:off x="6292800" y="1393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Local Avatar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9072000" y="1386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v1.2.0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6292800" y="1710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2026-08-11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43" name=""/>
          <p:cNvSpPr/>
          <p:nvPr/>
        </p:nvSpPr>
        <p:spPr>
          <a:xfrm>
            <a:off x="9954000" y="1674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44" name=""/>
          <p:cNvSpPr txBox="1"/>
          <p:nvPr/>
        </p:nvSpPr>
        <p:spPr>
          <a:xfrm>
            <a:off x="9990000" y="1710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本機服務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45" name=""/>
          <p:cNvSpPr/>
          <p:nvPr/>
        </p:nvSpPr>
        <p:spPr>
          <a:xfrm>
            <a:off x="6120000" y="2286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46" name=""/>
          <p:cNvSpPr txBox="1"/>
          <p:nvPr/>
        </p:nvSpPr>
        <p:spPr>
          <a:xfrm>
            <a:off x="6292800" y="2401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SMART sandbox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9072000" y="2394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v1.1.2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292800" y="2718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2026-08-28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49" name=""/>
          <p:cNvSpPr/>
          <p:nvPr/>
        </p:nvSpPr>
        <p:spPr>
          <a:xfrm>
            <a:off x="9954000" y="2682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50" name=""/>
          <p:cNvSpPr txBox="1"/>
          <p:nvPr/>
        </p:nvSpPr>
        <p:spPr>
          <a:xfrm>
            <a:off x="9990000" y="2718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合成沙盒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51" name=""/>
          <p:cNvSpPr/>
          <p:nvPr/>
        </p:nvSpPr>
        <p:spPr>
          <a:xfrm>
            <a:off x="6120000" y="3294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52" name=""/>
          <p:cNvSpPr txBox="1"/>
          <p:nvPr/>
        </p:nvSpPr>
        <p:spPr>
          <a:xfrm>
            <a:off x="6292800" y="3409200"/>
            <a:ext cx="2808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Integration bundle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072000" y="3402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v1.7.0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292800" y="3726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55" name=""/>
          <p:cNvSpPr/>
          <p:nvPr/>
        </p:nvSpPr>
        <p:spPr>
          <a:xfrm>
            <a:off x="9954000" y="3690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56" name=""/>
          <p:cNvSpPr txBox="1"/>
          <p:nvPr/>
        </p:nvSpPr>
        <p:spPr>
          <a:xfrm>
            <a:off x="9990000" y="3726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部署藍圖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57" name=""/>
          <p:cNvSpPr/>
          <p:nvPr/>
        </p:nvSpPr>
        <p:spPr>
          <a:xfrm>
            <a:off x="6120000" y="4302000"/>
            <a:ext cx="5382000" cy="82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58" name=""/>
          <p:cNvSpPr txBox="1"/>
          <p:nvPr/>
        </p:nvSpPr>
        <p:spPr>
          <a:xfrm>
            <a:off x="6292800" y="4417200"/>
            <a:ext cx="2808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450" spc="-1" strike="noStrike">
                <a:solidFill>
                  <a:srgbClr val="0a336b"/>
                </a:solidFill>
                <a:latin typeface="Microsoft YaHei"/>
              </a:rPr>
              <a:t>雙 </a:t>
            </a:r>
            <a:r>
              <a:rPr b="1" lang="en-US" sz="1450" spc="-1" strike="noStrike">
                <a:solidFill>
                  <a:srgbClr val="0a336b"/>
                </a:solidFill>
                <a:latin typeface="Microsoft YaHei"/>
              </a:rPr>
              <a:t>Agent DDX</a:t>
            </a:r>
            <a:endParaRPr b="1" lang="en-US" sz="14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9072000" y="4410000"/>
            <a:ext cx="1080000" cy="324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1" lang="en-US" sz="1450" spc="-1" strike="noStrike">
                <a:solidFill>
                  <a:srgbClr val="349e81"/>
                </a:solidFill>
                <a:latin typeface="Microsoft YaHei"/>
              </a:rPr>
              <a:t>v0.8.1</a:t>
            </a:r>
            <a:endParaRPr b="1" lang="en-US" sz="14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292800" y="4734000"/>
            <a:ext cx="1620000" cy="2559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80" spc="-1" strike="noStrike">
                <a:solidFill>
                  <a:srgbClr val="667a8a"/>
                </a:solidFill>
                <a:latin typeface="Microsoft YaHei"/>
              </a:rPr>
              <a:t>2026-08-30</a:t>
            </a:r>
            <a:endParaRPr b="0" lang="en-US" sz="108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61" name=""/>
          <p:cNvSpPr/>
          <p:nvPr/>
        </p:nvSpPr>
        <p:spPr>
          <a:xfrm>
            <a:off x="9954000" y="4698000"/>
            <a:ext cx="1314000" cy="259200"/>
          </a:xfrm>
          <a:prstGeom prst="roundRect">
            <a:avLst/>
          </a:prstGeom>
          <a:solidFill>
            <a:srgbClr val="eaf5f1"/>
          </a:solidFill>
          <a:ln w="0">
            <a:noFill/>
          </a:ln>
        </p:spPr>
      </p:sp>
      <p:sp>
        <p:nvSpPr>
          <p:cNvPr id="462" name=""/>
          <p:cNvSpPr txBox="1"/>
          <p:nvPr/>
        </p:nvSpPr>
        <p:spPr>
          <a:xfrm>
            <a:off x="9990000" y="4734000"/>
            <a:ext cx="1242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040" spc="-1" strike="noStrike">
                <a:solidFill>
                  <a:srgbClr val="2ca857"/>
                </a:solidFill>
                <a:latin typeface="Microsoft YaHei"/>
              </a:rPr>
              <a:t>研究 </a:t>
            </a:r>
            <a:r>
              <a:rPr b="1" lang="en-US" sz="1040" spc="-1" strike="noStrike">
                <a:solidFill>
                  <a:srgbClr val="2ca857"/>
                </a:solidFill>
                <a:latin typeface="Microsoft YaHei"/>
              </a:rPr>
              <a:t>harness</a:t>
            </a:r>
            <a:endParaRPr b="1" lang="en-US" sz="1040" spc="-1" strike="noStrike">
              <a:solidFill>
                <a:srgbClr val="2ca857"/>
              </a:solidFill>
              <a:latin typeface="Microsoft YaHei"/>
              <a:ea typeface="Microsoft YaHei"/>
            </a:endParaRPr>
          </a:p>
        </p:txBody>
      </p:sp>
      <p:sp>
        <p:nvSpPr>
          <p:cNvPr id="463" name=""/>
          <p:cNvSpPr/>
          <p:nvPr/>
        </p:nvSpPr>
        <p:spPr>
          <a:xfrm>
            <a:off x="450000" y="5356800"/>
            <a:ext cx="10980000" cy="655200"/>
          </a:xfrm>
          <a:prstGeom prst="roundRect">
            <a:avLst/>
          </a:prstGeom>
          <a:solidFill>
            <a:srgbClr val="eaf4f8"/>
          </a:solidFill>
          <a:ln w="0">
            <a:noFill/>
          </a:ln>
        </p:spPr>
      </p:sp>
      <p:sp>
        <p:nvSpPr>
          <p:cNvPr id="464" name=""/>
          <p:cNvSpPr txBox="1"/>
          <p:nvPr/>
        </p:nvSpPr>
        <p:spPr>
          <a:xfrm>
            <a:off x="630000" y="5428800"/>
            <a:ext cx="1062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0" lang="zh-CN" sz="1130" spc="-1" strike="noStrike">
                <a:solidFill>
                  <a:srgbClr val="263a4d"/>
                </a:solidFill>
                <a:latin typeface="Microsoft YaHei"/>
              </a:rPr>
              <a:t>版本為 </a:t>
            </a:r>
            <a:r>
              <a:rPr b="0" lang="en-US" sz="1130" spc="-1" strike="noStrike">
                <a:solidFill>
                  <a:srgbClr val="263a4d"/>
                </a:solidFill>
                <a:latin typeface="Microsoft YaHei"/>
              </a:rPr>
              <a:t>README</a:t>
            </a:r>
            <a:r>
              <a:rPr b="0" lang="zh-CN" sz="113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130" spc="-1" strike="noStrike">
                <a:solidFill>
                  <a:srgbClr val="263a4d"/>
                </a:solidFill>
                <a:latin typeface="Microsoft YaHei"/>
              </a:rPr>
              <a:t>devlog </a:t>
            </a:r>
            <a:r>
              <a:rPr b="0" lang="zh-CN" sz="1130" spc="-1" strike="noStrike">
                <a:solidFill>
                  <a:srgbClr val="263a4d"/>
                </a:solidFill>
                <a:latin typeface="Microsoft YaHei"/>
              </a:rPr>
              <a:t>文件基線；不代表 </a:t>
            </a:r>
            <a:r>
              <a:rPr b="0" lang="en-US" sz="1130" spc="-1" strike="noStrike">
                <a:solidFill>
                  <a:srgbClr val="263a4d"/>
                </a:solidFill>
                <a:latin typeface="Microsoft YaHei"/>
              </a:rPr>
              <a:t>Git tag</a:t>
            </a:r>
            <a:r>
              <a:rPr b="0" lang="zh-CN" sz="1130" spc="-1" strike="noStrike">
                <a:solidFill>
                  <a:srgbClr val="263a4d"/>
                </a:solidFill>
                <a:latin typeface="Microsoft YaHei"/>
              </a:rPr>
              <a:t>、院方正式發布或臨床核准。</a:t>
            </a:r>
            <a:r>
              <a:rPr b="0" lang="en-US" sz="1130" spc="-1" strike="noStrike">
                <a:solidFill>
                  <a:srgbClr val="263a4d"/>
                </a:solidFill>
                <a:latin typeface="Microsoft YaHei"/>
              </a:rPr>
              <a:t>8/27—8/31 </a:t>
            </a:r>
            <a:r>
              <a:rPr b="0" lang="zh-CN" sz="1130" spc="-1" strike="noStrike">
                <a:solidFill>
                  <a:srgbClr val="263a4d"/>
                </a:solidFill>
                <a:latin typeface="Microsoft YaHei"/>
              </a:rPr>
              <a:t>內容目前仍位於未提交工作目錄。</a:t>
            </a:r>
            <a:endParaRPr b="0" lang="en-US" sz="113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 txBox="1"/>
          <p:nvPr/>
        </p:nvSpPr>
        <p:spPr>
          <a:xfrm>
            <a:off x="450000" y="295200"/>
            <a:ext cx="4320000" cy="250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050" spc="-1" strike="noStrike">
                <a:solidFill>
                  <a:srgbClr val="349e81"/>
                </a:solidFill>
                <a:latin typeface="Microsoft YaHei"/>
              </a:rPr>
              <a:t>NEXT PRIORITIES</a:t>
            </a:r>
            <a:endParaRPr b="1" lang="en-US" sz="1050" spc="-1" strike="noStrike">
              <a:solidFill>
                <a:srgbClr val="349e81"/>
              </a:solidFill>
              <a:latin typeface="Microsoft YaHei"/>
              <a:ea typeface="Microsoft YaHei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439200" y="527040"/>
            <a:ext cx="8640000" cy="4176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r>
              <a:rPr b="1" lang="zh-CN" sz="2800" spc="-1" strike="noStrike">
                <a:solidFill>
                  <a:srgbClr val="0a336b"/>
                </a:solidFill>
                <a:latin typeface="Microsoft YaHei"/>
              </a:rPr>
              <a:t>下一階段：由功能開發轉向治理驗證</a:t>
            </a:r>
            <a:endParaRPr b="1" lang="en-US" sz="280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67" name=""/>
          <p:cNvSpPr/>
          <p:nvPr/>
        </p:nvSpPr>
        <p:spPr>
          <a:xfrm>
            <a:off x="450000" y="1000800"/>
            <a:ext cx="774000" cy="36000"/>
          </a:xfrm>
          <a:prstGeom prst="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468" name=""/>
          <p:cNvSpPr txBox="1"/>
          <p:nvPr/>
        </p:nvSpPr>
        <p:spPr>
          <a:xfrm>
            <a:off x="10764000" y="6379200"/>
            <a:ext cx="522000" cy="2408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r">
              <a:buNone/>
            </a:pPr>
            <a:r>
              <a:rPr b="0" lang="en-US" sz="1000" spc="-1" strike="noStrike">
                <a:solidFill>
                  <a:srgbClr val="667a8a"/>
                </a:solidFill>
                <a:latin typeface="Microsoft YaHei"/>
              </a:rPr>
              <a:t>11</a:t>
            </a:r>
            <a:endParaRPr b="0" lang="en-US" sz="100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69" name=""/>
          <p:cNvSpPr/>
          <p:nvPr/>
        </p:nvSpPr>
        <p:spPr>
          <a:xfrm>
            <a:off x="450000" y="6343200"/>
            <a:ext cx="11070000" cy="0"/>
          </a:xfrm>
          <a:prstGeom prst="line">
            <a:avLst/>
          </a:prstGeom>
          <a:ln w="6480">
            <a:solidFill>
              <a:srgbClr val="d7e2e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"/>
          <p:cNvSpPr txBox="1"/>
          <p:nvPr/>
        </p:nvSpPr>
        <p:spPr>
          <a:xfrm>
            <a:off x="450000" y="6379200"/>
            <a:ext cx="882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920" spc="-1" strike="noStrike">
                <a:solidFill>
                  <a:srgbClr val="667a8a"/>
                </a:solidFill>
                <a:latin typeface="Microsoft YaHei"/>
              </a:rPr>
              <a:t>研究／合成資料原型｜非醫療器材｜資料截至 </a:t>
            </a:r>
            <a:r>
              <a:rPr b="0" lang="en-US" sz="920" spc="-1" strike="noStrike">
                <a:solidFill>
                  <a:srgbClr val="667a8a"/>
                </a:solidFill>
                <a:latin typeface="Microsoft YaHei"/>
              </a:rPr>
              <a:t>2026-08-31</a:t>
            </a:r>
            <a:endParaRPr b="0" lang="en-US" sz="920" spc="-1" strike="noStrike">
              <a:solidFill>
                <a:srgbClr val="667a8a"/>
              </a:solidFill>
              <a:latin typeface="Microsoft YaHei"/>
              <a:ea typeface="Microsoft YaHei"/>
            </a:endParaRPr>
          </a:p>
        </p:txBody>
      </p:sp>
      <p:sp>
        <p:nvSpPr>
          <p:cNvPr id="471" name=""/>
          <p:cNvSpPr/>
          <p:nvPr/>
        </p:nvSpPr>
        <p:spPr>
          <a:xfrm>
            <a:off x="450000" y="1267200"/>
            <a:ext cx="10980000" cy="91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72" name=""/>
          <p:cNvSpPr/>
          <p:nvPr/>
        </p:nvSpPr>
        <p:spPr>
          <a:xfrm>
            <a:off x="450000" y="1267200"/>
            <a:ext cx="792000" cy="910800"/>
          </a:xfrm>
          <a:prstGeom prst="roundRect">
            <a:avLst/>
          </a:prstGeom>
          <a:solidFill>
            <a:srgbClr val="c74b5d"/>
          </a:solidFill>
          <a:ln w="0">
            <a:noFill/>
          </a:ln>
        </p:spPr>
      </p:sp>
      <p:sp>
        <p:nvSpPr>
          <p:cNvPr id="473" name=""/>
          <p:cNvSpPr txBox="1"/>
          <p:nvPr/>
        </p:nvSpPr>
        <p:spPr>
          <a:xfrm>
            <a:off x="532800" y="1535040"/>
            <a:ext cx="619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P0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422000" y="1393200"/>
            <a:ext cx="30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550" spc="-1" strike="noStrike">
                <a:solidFill>
                  <a:srgbClr val="0a336b"/>
                </a:solidFill>
                <a:latin typeface="Microsoft YaHei"/>
              </a:rPr>
              <a:t>一般化臨床 </a:t>
            </a:r>
            <a:r>
              <a:rPr b="1" lang="en-US" sz="1550" spc="-1" strike="noStrike">
                <a:solidFill>
                  <a:srgbClr val="0a336b"/>
                </a:solidFill>
                <a:latin typeface="Microsoft YaHei"/>
              </a:rPr>
              <a:t>Safety</a:t>
            </a:r>
            <a:endParaRPr b="1" lang="en-US" sz="15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4374000" y="1382400"/>
            <a:ext cx="675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跨主訴急症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catalog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、同義詞／否定／組合條件、黃金測試集與醫療專業審查</a:t>
            </a:r>
            <a:endParaRPr b="0" lang="en-US" sz="12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76" name=""/>
          <p:cNvSpPr/>
          <p:nvPr/>
        </p:nvSpPr>
        <p:spPr>
          <a:xfrm>
            <a:off x="450000" y="2365200"/>
            <a:ext cx="10980000" cy="91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77" name=""/>
          <p:cNvSpPr/>
          <p:nvPr/>
        </p:nvSpPr>
        <p:spPr>
          <a:xfrm>
            <a:off x="450000" y="2365200"/>
            <a:ext cx="792000" cy="910800"/>
          </a:xfrm>
          <a:prstGeom prst="roundRect">
            <a:avLst/>
          </a:prstGeom>
          <a:solidFill>
            <a:srgbClr val="e99a3f"/>
          </a:solidFill>
          <a:ln w="0">
            <a:noFill/>
          </a:ln>
        </p:spPr>
      </p:sp>
      <p:sp>
        <p:nvSpPr>
          <p:cNvPr id="478" name=""/>
          <p:cNvSpPr txBox="1"/>
          <p:nvPr/>
        </p:nvSpPr>
        <p:spPr>
          <a:xfrm>
            <a:off x="532800" y="2633040"/>
            <a:ext cx="619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P1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422000" y="2491200"/>
            <a:ext cx="30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550" spc="-1" strike="noStrike">
                <a:solidFill>
                  <a:srgbClr val="0a336b"/>
                </a:solidFill>
                <a:latin typeface="Microsoft YaHei"/>
              </a:rPr>
              <a:t>身分與狀態耐久化</a:t>
            </a:r>
            <a:endParaRPr b="1" lang="en-US" sz="15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4374000" y="2480400"/>
            <a:ext cx="675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server 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產生高熵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session ID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、共享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TTL store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；規則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revision durable store 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與跨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process transaction</a:t>
            </a:r>
            <a:endParaRPr b="0" lang="en-US" sz="12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81" name=""/>
          <p:cNvSpPr/>
          <p:nvPr/>
        </p:nvSpPr>
        <p:spPr>
          <a:xfrm>
            <a:off x="450000" y="3463200"/>
            <a:ext cx="10980000" cy="91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82" name=""/>
          <p:cNvSpPr/>
          <p:nvPr/>
        </p:nvSpPr>
        <p:spPr>
          <a:xfrm>
            <a:off x="450000" y="3463200"/>
            <a:ext cx="792000" cy="910800"/>
          </a:xfrm>
          <a:prstGeom prst="roundRect">
            <a:avLst/>
          </a:prstGeom>
          <a:solidFill>
            <a:srgbClr val="349e81"/>
          </a:solidFill>
          <a:ln w="0">
            <a:noFill/>
          </a:ln>
        </p:spPr>
      </p:sp>
      <p:sp>
        <p:nvSpPr>
          <p:cNvPr id="483" name=""/>
          <p:cNvSpPr txBox="1"/>
          <p:nvPr/>
        </p:nvSpPr>
        <p:spPr>
          <a:xfrm>
            <a:off x="532800" y="3731040"/>
            <a:ext cx="619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P1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422000" y="3589200"/>
            <a:ext cx="30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550" spc="-1" strike="noStrike">
                <a:solidFill>
                  <a:srgbClr val="0a336b"/>
                </a:solidFill>
                <a:latin typeface="Microsoft YaHei"/>
              </a:rPr>
              <a:t>FHIR </a:t>
            </a:r>
            <a:r>
              <a:rPr b="1" lang="zh-CN" sz="1550" spc="-1" strike="noStrike">
                <a:solidFill>
                  <a:srgbClr val="0a336b"/>
                </a:solidFill>
                <a:latin typeface="Microsoft YaHei"/>
              </a:rPr>
              <a:t>正式治理</a:t>
            </a:r>
            <a:endParaRPr b="1" lang="en-US" sz="15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4374000" y="3578400"/>
            <a:ext cx="675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SMART client registration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、最小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scopes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、可信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Practitioner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Provenance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／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AuditEvent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、簽署／更正／撤回／復原</a:t>
            </a:r>
            <a:endParaRPr b="0" lang="en-US" sz="12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86" name=""/>
          <p:cNvSpPr/>
          <p:nvPr/>
        </p:nvSpPr>
        <p:spPr>
          <a:xfrm>
            <a:off x="450000" y="4561200"/>
            <a:ext cx="10980000" cy="9108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7e2e8"/>
            </a:solidFill>
            <a:round/>
          </a:ln>
        </p:spPr>
      </p:sp>
      <p:sp>
        <p:nvSpPr>
          <p:cNvPr id="487" name=""/>
          <p:cNvSpPr/>
          <p:nvPr/>
        </p:nvSpPr>
        <p:spPr>
          <a:xfrm>
            <a:off x="450000" y="4561200"/>
            <a:ext cx="792000" cy="910800"/>
          </a:xfrm>
          <a:prstGeom prst="roundRect">
            <a:avLst/>
          </a:prstGeom>
          <a:solidFill>
            <a:srgbClr val="2ca857"/>
          </a:solidFill>
          <a:ln w="0">
            <a:noFill/>
          </a:ln>
        </p:spPr>
      </p:sp>
      <p:sp>
        <p:nvSpPr>
          <p:cNvPr id="488" name=""/>
          <p:cNvSpPr txBox="1"/>
          <p:nvPr/>
        </p:nvSpPr>
        <p:spPr>
          <a:xfrm>
            <a:off x="532800" y="4829040"/>
            <a:ext cx="6192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ctr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Microsoft YaHei"/>
              </a:rPr>
              <a:t>P2</a:t>
            </a:r>
            <a:endParaRPr b="1" lang="en-US" sz="1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422000" y="4687200"/>
            <a:ext cx="3024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zh-CN" sz="1550" spc="-1" strike="noStrike">
                <a:solidFill>
                  <a:srgbClr val="0a336b"/>
                </a:solidFill>
                <a:latin typeface="Microsoft YaHei"/>
              </a:rPr>
              <a:t>正式線 </a:t>
            </a:r>
            <a:r>
              <a:rPr b="1" lang="en-US" sz="1550" spc="-1" strike="noStrike">
                <a:solidFill>
                  <a:srgbClr val="0a336b"/>
                </a:solidFill>
                <a:latin typeface="Microsoft YaHei"/>
              </a:rPr>
              <a:t>promotion</a:t>
            </a:r>
            <a:r>
              <a:rPr b="1" lang="zh-CN" sz="1550" spc="-1" strike="noStrike">
                <a:solidFill>
                  <a:srgbClr val="0a336b"/>
                </a:solidFill>
                <a:latin typeface="Microsoft YaHei"/>
              </a:rPr>
              <a:t>＋</a:t>
            </a:r>
            <a:r>
              <a:rPr b="1" lang="en-US" sz="1550" spc="-1" strike="noStrike">
                <a:solidFill>
                  <a:srgbClr val="0a336b"/>
                </a:solidFill>
                <a:latin typeface="Microsoft YaHei"/>
              </a:rPr>
              <a:t>E2E</a:t>
            </a:r>
            <a:endParaRPr b="1" lang="en-US" sz="1550" spc="-1" strike="noStrike">
              <a:solidFill>
                <a:srgbClr val="0a336b"/>
              </a:solidFill>
              <a:latin typeface="Microsoft YaHei"/>
              <a:ea typeface="Microsoft YaHei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4374000" y="4676400"/>
            <a:ext cx="6750000" cy="7196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獨立評估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frontend-v2 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移植；實體手機相機、院方 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OAuth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、</a:t>
            </a:r>
            <a:r>
              <a:rPr b="0" lang="en-US" sz="1280" spc="-1" strike="noStrike">
                <a:solidFill>
                  <a:srgbClr val="263a4d"/>
                </a:solidFill>
                <a:latin typeface="Microsoft YaHei"/>
              </a:rPr>
              <a:t>TW Core validator </a:t>
            </a:r>
            <a:r>
              <a:rPr b="0" lang="zh-CN" sz="1280" spc="-1" strike="noStrike">
                <a:solidFill>
                  <a:srgbClr val="263a4d"/>
                </a:solidFill>
                <a:latin typeface="Microsoft YaHei"/>
              </a:rPr>
              <a:t>與整合環境驗收</a:t>
            </a:r>
            <a:endParaRPr b="0" lang="en-US" sz="1280" spc="-1" strike="noStrike">
              <a:solidFill>
                <a:srgbClr val="263a4d"/>
              </a:solidFill>
              <a:latin typeface="Microsoft YaHei"/>
              <a:ea typeface="Microsoft YaHei"/>
            </a:endParaRPr>
          </a:p>
        </p:txBody>
      </p:sp>
      <p:sp>
        <p:nvSpPr>
          <p:cNvPr id="491" name=""/>
          <p:cNvSpPr/>
          <p:nvPr/>
        </p:nvSpPr>
        <p:spPr>
          <a:xfrm>
            <a:off x="1656000" y="5587200"/>
            <a:ext cx="8640000" cy="403200"/>
          </a:xfrm>
          <a:prstGeom prst="roundRect">
            <a:avLst/>
          </a:prstGeom>
          <a:solidFill>
            <a:srgbClr val="0a336b"/>
          </a:solidFill>
          <a:ln w="0">
            <a:noFill/>
          </a:ln>
        </p:spPr>
      </p:sp>
      <p:sp>
        <p:nvSpPr>
          <p:cNvPr id="492" name=""/>
          <p:cNvSpPr txBox="1"/>
          <p:nvPr/>
        </p:nvSpPr>
        <p:spPr>
          <a:xfrm>
            <a:off x="1746000" y="5659200"/>
            <a:ext cx="8460000" cy="3888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pPr algn="ctr">
              <a:buNone/>
            </a:pPr>
            <a:r>
              <a:rPr b="1" lang="zh-CN" sz="1130" spc="-1" strike="noStrike">
                <a:solidFill>
                  <a:srgbClr val="ffffff"/>
                </a:solidFill>
                <a:latin typeface="Microsoft YaHei"/>
              </a:rPr>
              <a:t>目標：把可演示的合成資料閉環，推進為可審查、可稽核、可正式整合的院方流程</a:t>
            </a:r>
            <a:endParaRPr b="1" lang="en-US" sz="113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object 2"/>
          <p:cNvSpPr/>
          <p:nvPr/>
        </p:nvSpPr>
        <p:spPr>
          <a:xfrm>
            <a:off x="0" y="0"/>
            <a:ext cx="12191400" cy="6857280"/>
          </a:xfrm>
          <a:custGeom>
            <a:avLst/>
            <a:gdLst/>
            <a:ah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228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4" name="object 3" descr=""/>
          <p:cNvPicPr/>
          <p:nvPr/>
        </p:nvPicPr>
        <p:blipFill>
          <a:blip r:embed="rId1"/>
          <a:stretch/>
        </p:blipFill>
        <p:spPr>
          <a:xfrm>
            <a:off x="10918440" y="447120"/>
            <a:ext cx="722880" cy="722880"/>
          </a:xfrm>
          <a:prstGeom prst="rect">
            <a:avLst/>
          </a:prstGeom>
          <a:ln w="0">
            <a:noFill/>
          </a:ln>
        </p:spPr>
      </p:pic>
      <p:grpSp>
        <p:nvGrpSpPr>
          <p:cNvPr id="495" name="object 4"/>
          <p:cNvGrpSpPr/>
          <p:nvPr/>
        </p:nvGrpSpPr>
        <p:grpSpPr>
          <a:xfrm>
            <a:off x="0" y="3058920"/>
            <a:ext cx="12191400" cy="3798360"/>
            <a:chOff x="0" y="3058920"/>
            <a:chExt cx="12191400" cy="3798360"/>
          </a:xfrm>
        </p:grpSpPr>
        <p:pic>
          <p:nvPicPr>
            <p:cNvPr id="496" name="object 5" descr=""/>
            <p:cNvPicPr/>
            <p:nvPr/>
          </p:nvPicPr>
          <p:blipFill>
            <a:blip r:embed="rId2"/>
            <a:stretch/>
          </p:blipFill>
          <p:spPr>
            <a:xfrm>
              <a:off x="0" y="3429000"/>
              <a:ext cx="12191400" cy="3428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97" name="object 6"/>
            <p:cNvSpPr/>
            <p:nvPr/>
          </p:nvSpPr>
          <p:spPr>
            <a:xfrm>
              <a:off x="9197640" y="3429000"/>
              <a:ext cx="711360" cy="735120"/>
            </a:xfrm>
            <a:custGeom>
              <a:avLst/>
              <a:gdLst/>
              <a:ahLst/>
              <a:rect l="l" t="t" r="r" b="b"/>
              <a:pathLst>
                <a:path w="534034" h="551814">
                  <a:moveTo>
                    <a:pt x="533410" y="551195"/>
                  </a:moveTo>
                  <a:lnTo>
                    <a:pt x="0" y="551195"/>
                  </a:lnTo>
                  <a:lnTo>
                    <a:pt x="0" y="0"/>
                  </a:lnTo>
                  <a:lnTo>
                    <a:pt x="533410" y="0"/>
                  </a:lnTo>
                  <a:lnTo>
                    <a:pt x="533410" y="551195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object 7"/>
            <p:cNvSpPr/>
            <p:nvPr/>
          </p:nvSpPr>
          <p:spPr>
            <a:xfrm>
              <a:off x="1142640" y="3058920"/>
              <a:ext cx="377640" cy="376920"/>
            </a:xfrm>
            <a:custGeom>
              <a:avLst/>
              <a:gdLst/>
              <a:ahLst/>
              <a:rect l="l" t="t" r="r" b="b"/>
              <a:pathLst>
                <a:path w="283844" h="283210">
                  <a:moveTo>
                    <a:pt x="283503" y="282882"/>
                  </a:moveTo>
                  <a:lnTo>
                    <a:pt x="0" y="282882"/>
                  </a:lnTo>
                  <a:lnTo>
                    <a:pt x="0" y="0"/>
                  </a:lnTo>
                  <a:lnTo>
                    <a:pt x="283503" y="0"/>
                  </a:lnTo>
                  <a:lnTo>
                    <a:pt x="283503" y="282882"/>
                  </a:lnTo>
                  <a:close/>
                </a:path>
              </a:pathLst>
            </a:custGeom>
            <a:solidFill>
              <a:srgbClr val="def3b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object 8"/>
            <p:cNvSpPr/>
            <p:nvPr/>
          </p:nvSpPr>
          <p:spPr>
            <a:xfrm>
              <a:off x="9909000" y="3100680"/>
              <a:ext cx="1706040" cy="327960"/>
            </a:xfrm>
            <a:custGeom>
              <a:avLst/>
              <a:gdLst/>
              <a:ahLst/>
              <a:rect l="l" t="t" r="r" b="b"/>
              <a:pathLst>
                <a:path w="1280159" h="246380">
                  <a:moveTo>
                    <a:pt x="1279789" y="246320"/>
                  </a:moveTo>
                  <a:lnTo>
                    <a:pt x="0" y="246320"/>
                  </a:lnTo>
                  <a:lnTo>
                    <a:pt x="0" y="0"/>
                  </a:lnTo>
                  <a:lnTo>
                    <a:pt x="1279789" y="0"/>
                  </a:lnTo>
                  <a:lnTo>
                    <a:pt x="1279789" y="246320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object 9"/>
            <p:cNvSpPr/>
            <p:nvPr/>
          </p:nvSpPr>
          <p:spPr>
            <a:xfrm>
              <a:off x="0" y="3429000"/>
              <a:ext cx="856080" cy="854280"/>
            </a:xfrm>
            <a:custGeom>
              <a:avLst/>
              <a:gdLst/>
              <a:ahLst/>
              <a:rect l="l" t="t" r="r" b="b"/>
              <a:pathLst>
                <a:path w="642620" h="641350">
                  <a:moveTo>
                    <a:pt x="642359" y="640952"/>
                  </a:moveTo>
                  <a:lnTo>
                    <a:pt x="0" y="640952"/>
                  </a:lnTo>
                  <a:lnTo>
                    <a:pt x="0" y="0"/>
                  </a:lnTo>
                  <a:lnTo>
                    <a:pt x="642359" y="0"/>
                  </a:lnTo>
                  <a:lnTo>
                    <a:pt x="642359" y="640952"/>
                  </a:lnTo>
                  <a:close/>
                </a:path>
              </a:pathLst>
            </a:custGeom>
            <a:solidFill>
              <a:srgbClr val="054f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3228480" y="1578240"/>
            <a:ext cx="7070760" cy="1161720"/>
          </a:xfrm>
          <a:prstGeom prst="rect">
            <a:avLst/>
          </a:prstGeom>
          <a:noFill/>
          <a:ln w="0">
            <a:noFill/>
          </a:ln>
        </p:spPr>
        <p:txBody>
          <a:bodyPr lIns="0" rIns="0" tIns="16920" bIns="0" anchor="t">
            <a:noAutofit/>
          </a:bodyPr>
          <a:p>
            <a:pPr marL="16920">
              <a:lnSpc>
                <a:spcPct val="100000"/>
              </a:lnSpc>
              <a:spcBef>
                <a:spcPts val="133"/>
              </a:spcBef>
              <a:buNone/>
              <a:tabLst>
                <a:tab algn="l" pos="0"/>
              </a:tabLst>
            </a:pPr>
            <a:r>
              <a:rPr b="1" lang="zh-CN" sz="4270" spc="-1" strike="noStrike">
                <a:solidFill>
                  <a:srgbClr val="ffffff"/>
                </a:solidFill>
                <a:latin typeface="Arial"/>
                <a:ea typeface="Arial"/>
              </a:rPr>
              <a:t>謝謝聆聽・敬請指教</a:t>
            </a:r>
            <a:endParaRPr b="1" lang="en-US" sz="4270" spc="-1" strike="noStrike">
              <a:latin typeface="Microsoft YaHei"/>
              <a:ea typeface="Microsoft YaHei"/>
            </a:endParaRPr>
          </a:p>
        </p:txBody>
      </p:sp>
      <p:grpSp>
        <p:nvGrpSpPr>
          <p:cNvPr id="502" name="object 11"/>
          <p:cNvGrpSpPr/>
          <p:nvPr/>
        </p:nvGrpSpPr>
        <p:grpSpPr>
          <a:xfrm>
            <a:off x="1585080" y="513360"/>
            <a:ext cx="1520640" cy="1607760"/>
            <a:chOff x="1585080" y="513360"/>
            <a:chExt cx="1520640" cy="1607760"/>
          </a:xfrm>
        </p:grpSpPr>
        <p:sp>
          <p:nvSpPr>
            <p:cNvPr id="503" name="object 12"/>
            <p:cNvSpPr/>
            <p:nvPr/>
          </p:nvSpPr>
          <p:spPr>
            <a:xfrm>
              <a:off x="1585080" y="1008360"/>
              <a:ext cx="1076400" cy="1112760"/>
            </a:xfrm>
            <a:custGeom>
              <a:avLst/>
              <a:gdLst/>
              <a:ahLst/>
              <a:rect l="l" t="t" r="r" b="b"/>
              <a:pathLst>
                <a:path w="807719" h="835025">
                  <a:moveTo>
                    <a:pt x="807556" y="834482"/>
                  </a:moveTo>
                  <a:lnTo>
                    <a:pt x="0" y="834482"/>
                  </a:lnTo>
                  <a:lnTo>
                    <a:pt x="0" y="0"/>
                  </a:lnTo>
                  <a:lnTo>
                    <a:pt x="807556" y="0"/>
                  </a:lnTo>
                  <a:lnTo>
                    <a:pt x="807556" y="834482"/>
                  </a:lnTo>
                  <a:close/>
                </a:path>
              </a:pathLst>
            </a:custGeom>
            <a:solidFill>
              <a:srgbClr val="0083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object 13"/>
            <p:cNvSpPr/>
            <p:nvPr/>
          </p:nvSpPr>
          <p:spPr>
            <a:xfrm>
              <a:off x="2636640" y="513360"/>
              <a:ext cx="469080" cy="485280"/>
            </a:xfrm>
            <a:custGeom>
              <a:avLst/>
              <a:gdLst/>
              <a:ahLst/>
              <a:rect l="l" t="t" r="r" b="b"/>
              <a:pathLst>
                <a:path w="352425" h="364490">
                  <a:moveTo>
                    <a:pt x="352232" y="363976"/>
                  </a:moveTo>
                  <a:lnTo>
                    <a:pt x="0" y="363976"/>
                  </a:lnTo>
                  <a:lnTo>
                    <a:pt x="0" y="0"/>
                  </a:lnTo>
                  <a:lnTo>
                    <a:pt x="352232" y="0"/>
                  </a:lnTo>
                  <a:lnTo>
                    <a:pt x="352232" y="363976"/>
                  </a:lnTo>
                  <a:close/>
                </a:path>
              </a:pathLst>
            </a:custGeom>
            <a:solidFill>
              <a:srgbClr val="fff9b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5" name="object 14"/>
          <p:cNvSpPr/>
          <p:nvPr/>
        </p:nvSpPr>
        <p:spPr>
          <a:xfrm>
            <a:off x="8929800" y="0"/>
            <a:ext cx="1557000" cy="513360"/>
          </a:xfrm>
          <a:custGeom>
            <a:avLst/>
            <a:gdLst/>
            <a:ahLst/>
            <a:rect l="l" t="t" r="r" b="b"/>
            <a:pathLst>
              <a:path w="1168400" h="385445">
                <a:moveTo>
                  <a:pt x="1168381" y="384942"/>
                </a:moveTo>
                <a:lnTo>
                  <a:pt x="0" y="384942"/>
                </a:lnTo>
                <a:lnTo>
                  <a:pt x="0" y="0"/>
                </a:lnTo>
                <a:lnTo>
                  <a:pt x="1168381" y="0"/>
                </a:lnTo>
                <a:lnTo>
                  <a:pt x="1168381" y="384942"/>
                </a:lnTo>
                <a:close/>
              </a:path>
            </a:pathLst>
          </a:custGeom>
          <a:solidFill>
            <a:srgbClr val="054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49e81"/>
      </a:accent1>
      <a:accent2>
        <a:srgbClr val="2ca857"/>
      </a:accent2>
      <a:accent3>
        <a:srgbClr val="84d035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aaaf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2022-12-14T08:54:03Z</dcterms:created>
  <dc:creator>張慈映</dc:creator>
  <dc:description/>
  <dc:language>zh-TW</dc:language>
  <cp:lastModifiedBy/>
  <dcterms:modified xsi:type="dcterms:W3CDTF">2026-09-01T01:10:59Z</dcterms:modified>
  <cp:revision>4</cp:revision>
  <dc:subject/>
  <dc:title>PowerPoint 簡報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