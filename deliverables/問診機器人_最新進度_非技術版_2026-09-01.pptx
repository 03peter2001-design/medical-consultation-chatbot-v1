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jpeg" ContentType="image/jpe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70B1C7-994B-4851-8A0A-600773692B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7BD210-324A-4BBF-B76E-4B071EE0AC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CDA6DA-F2AC-40C2-8547-6431B3404F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23DCD5-594F-45F6-896D-670767D8C3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B96178-F51C-484A-9572-4682AEADFB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15440" y="593280"/>
            <a:ext cx="11360160" cy="353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67A7EF-FDA2-4E1C-90E4-E89E74D501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3D3296-937F-4E10-8651-A839FCA806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CEBE88-1942-48D6-A50F-50E7A68888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9223CC-485B-494F-8225-2F7E682B1F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C982DA-2B77-43E8-94D0-C8539527DD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5B600C-1238-4001-9D65-09DE205DD6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6B3ACB-4CF1-4E02-9D11-AAA26791AF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53CC371-6C76-4381-8A1C-CF5A5BF7EAA2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5B46A66-977C-48AD-B915-D9B4E738BB45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854A495-8198-4188-B40E-1300BD773A27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270D999-C067-4B63-84A9-A7627274E11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860A4C1-7229-4052-9C3B-E7ABD955371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15440" y="593280"/>
            <a:ext cx="11360160" cy="353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7813679-B30D-455F-B6A0-D311FC57465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9F39659-8DB2-4B54-B722-369877FDD8FD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CDDB503-4B11-4694-8E59-98BFD569902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E39DDD8-62C8-476D-B09B-7848A030BB43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DE9A595-E55F-4547-A534-C20BBD6F1589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09A5BF1-C3CC-4E28-8C3A-7C53AC2EA0E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25983D0-5AA5-4865-8D8C-3350889538CD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E250D9-2100-407B-9B3A-46937E3AB3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8BB402-1EC8-45F2-BE6F-50DD87785E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94AC8-CBFA-432A-883A-FCAC855D7B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D59F9A-00E6-401A-9F81-654BAE41E4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347434-1EA9-4477-B4C8-8F959EFD05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15440" y="593280"/>
            <a:ext cx="11360160" cy="353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6FB55E-AD36-41B5-BCC4-73C4885E08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A08BA0-1A49-4188-B331-5577708643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F9D174-E4F3-48A7-BB03-273185A95C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E32215-7B7D-453C-AC28-5B55305F0D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4B2934-8CBD-49DE-A37B-04082CC239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222F29-CB6A-4A24-BA05-BFBA32C7457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4B8846-33B5-436B-A0BF-F9F22875945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040" cy="4546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11296440" y="621756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rgbClr val="455f51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4F65097-E6D9-48CA-B258-85185B03BB68}" type="slidenum">
              <a:rPr b="0" lang="en-US" sz="1340" spc="-1" strike="noStrike">
                <a:solidFill>
                  <a:srgbClr val="455f51"/>
                </a:solidFill>
                <a:latin typeface="Arial"/>
                <a:ea typeface="Arial"/>
              </a:rPr>
              <a:t>2</a:t>
            </a:fld>
            <a:endParaRPr b="0" lang="en-US" sz="134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040" cy="454680"/>
          </a:xfrm>
          <a:prstGeom prst="rect">
            <a:avLst/>
          </a:prstGeom>
          <a:ln w="0">
            <a:noFill/>
          </a:ln>
        </p:spPr>
      </p:pic>
      <p:sp>
        <p:nvSpPr>
          <p:cNvPr id="43" name="矩形 2"/>
          <p:cNvSpPr/>
          <p:nvPr/>
        </p:nvSpPr>
        <p:spPr>
          <a:xfrm>
            <a:off x="0" y="0"/>
            <a:ext cx="133560" cy="7934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矩形 3"/>
          <p:cNvSpPr/>
          <p:nvPr/>
        </p:nvSpPr>
        <p:spPr>
          <a:xfrm>
            <a:off x="123120" y="279720"/>
            <a:ext cx="245520" cy="793440"/>
          </a:xfrm>
          <a:prstGeom prst="rect">
            <a:avLst/>
          </a:prstGeom>
          <a:gradFill rotWithShape="0">
            <a:gsLst>
              <a:gs pos="0">
                <a:srgbClr val="029676"/>
              </a:gs>
              <a:gs pos="100000">
                <a:srgbClr val="71da9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PlaceHolder 1"/>
          <p:cNvSpPr>
            <a:spLocks noGrp="1"/>
          </p:cNvSpPr>
          <p:nvPr>
            <p:ph type="sldNum" idx="4"/>
          </p:nvPr>
        </p:nvSpPr>
        <p:spPr>
          <a:xfrm>
            <a:off x="11296440" y="621756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rgbClr val="455f51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D6DFCA1-8E2B-41B4-8B85-98DC63737132}" type="slidenum">
              <a:rPr b="0" lang="en-US" sz="1340" spc="-1" strike="noStrike">
                <a:solidFill>
                  <a:srgbClr val="455f51"/>
                </a:solidFill>
                <a:latin typeface="Arial"/>
                <a:ea typeface="Arial"/>
              </a:rPr>
              <a:t>&lt;number&gt;</a:t>
            </a:fld>
            <a:endParaRPr b="0" lang="en-US" sz="134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040" cy="454680"/>
          </a:xfrm>
          <a:prstGeom prst="rect">
            <a:avLst/>
          </a:prstGeom>
          <a:ln w="0">
            <a:noFill/>
          </a:ln>
        </p:spPr>
      </p:pic>
      <p:sp>
        <p:nvSpPr>
          <p:cNvPr id="85" name="bg object 16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6" name="bg object 17" descr=""/>
          <p:cNvPicPr/>
          <p:nvPr/>
        </p:nvPicPr>
        <p:blipFill>
          <a:blip r:embed="rId3"/>
          <a:stretch/>
        </p:blipFill>
        <p:spPr>
          <a:xfrm>
            <a:off x="7641000" y="5244120"/>
            <a:ext cx="4550400" cy="1613160"/>
          </a:xfrm>
          <a:prstGeom prst="rect">
            <a:avLst/>
          </a:prstGeom>
          <a:ln w="0">
            <a:noFill/>
          </a:ln>
        </p:spPr>
      </p:pic>
      <p:pic>
        <p:nvPicPr>
          <p:cNvPr id="87" name="bg object 18" descr=""/>
          <p:cNvPicPr/>
          <p:nvPr/>
        </p:nvPicPr>
        <p:blipFill>
          <a:blip r:embed="rId4"/>
          <a:stretch/>
        </p:blipFill>
        <p:spPr>
          <a:xfrm>
            <a:off x="10078560" y="342000"/>
            <a:ext cx="157680" cy="15768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sldNum" idx="6"/>
          </p:nvPr>
        </p:nvSpPr>
        <p:spPr>
          <a:xfrm>
            <a:off x="11296440" y="621756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marL="50760" algn="r">
              <a:lnSpc>
                <a:spcPct val="100000"/>
              </a:lnSpc>
              <a:spcBef>
                <a:spcPts val="252"/>
              </a:spcBef>
              <a:buNone/>
              <a:tabLst>
                <a:tab algn="l" pos="0"/>
              </a:tabLst>
              <a:defRPr b="0" lang="en-US" sz="1000" spc="-35" strike="noStrike">
                <a:solidFill>
                  <a:srgbClr val="455f51"/>
                </a:solidFill>
                <a:latin typeface="Century Gothic"/>
                <a:ea typeface="Arial"/>
              </a:defRPr>
            </a:lvl1pPr>
          </a:lstStyle>
          <a:p>
            <a:pPr marL="50760" algn="r">
              <a:lnSpc>
                <a:spcPct val="100000"/>
              </a:lnSpc>
              <a:spcBef>
                <a:spcPts val="252"/>
              </a:spcBef>
              <a:buNone/>
              <a:tabLst>
                <a:tab algn="l" pos="0"/>
              </a:tabLst>
            </a:pPr>
            <a:fld id="{308EFDEA-4BD0-4BF4-AE7C-5C9E6A33B0C8}" type="slidenum">
              <a:rPr b="0" lang="en-US" sz="1000" spc="-35" strike="noStrike">
                <a:solidFill>
                  <a:srgbClr val="455f51"/>
                </a:solidFill>
                <a:latin typeface="Century Gothic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dt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523880" y="1706040"/>
            <a:ext cx="9143280" cy="11570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algn="ctr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zh-TW" sz="4400" spc="-1" strike="noStrike" cap="all">
                <a:solidFill>
                  <a:srgbClr val="349e81"/>
                </a:solidFill>
                <a:latin typeface="Microsoft YaHei"/>
                <a:ea typeface="Microsoft YaHei"/>
              </a:rPr>
              <a:t>衛福部次世代數位醫療平台計畫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1604160" y="419652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rIns="329040" tIns="91440" bIns="91440" anchor="b">
            <a:noAutofit/>
          </a:bodyPr>
          <a:p>
            <a:pPr algn="ctr">
              <a:lnSpc>
                <a:spcPct val="12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1" lang="en-US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AI </a:t>
            </a:r>
            <a:r>
              <a:rPr b="1" lang="zh-TW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問診機器人</a:t>
            </a:r>
            <a:endParaRPr b="0" lang="en-US" sz="2150" spc="-1" strike="noStrike">
              <a:latin typeface="Arial"/>
            </a:endParaRPr>
          </a:p>
          <a:p>
            <a:pPr algn="ctr">
              <a:lnSpc>
                <a:spcPct val="12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1" lang="en-US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115 </a:t>
            </a:r>
            <a:r>
              <a:rPr b="1" lang="zh-TW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年 </a:t>
            </a:r>
            <a:r>
              <a:rPr b="1" lang="en-US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9 </a:t>
            </a:r>
            <a:r>
              <a:rPr b="1" lang="zh-TW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月 </a:t>
            </a:r>
            <a:r>
              <a:rPr b="1" lang="en-US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1 </a:t>
            </a:r>
            <a:r>
              <a:rPr b="1" lang="zh-TW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日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31" name="標題 1"/>
          <p:cNvSpPr/>
          <p:nvPr/>
        </p:nvSpPr>
        <p:spPr>
          <a:xfrm>
            <a:off x="1604160" y="2863800"/>
            <a:ext cx="914328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noAutofit/>
          </a:bodyPr>
          <a:p>
            <a:pPr algn="ctr">
              <a:lnSpc>
                <a:spcPct val="114000"/>
              </a:lnSpc>
              <a:spcAft>
                <a:spcPts val="1599"/>
              </a:spcAft>
              <a:buNone/>
            </a:pPr>
            <a:r>
              <a:rPr b="1" lang="zh-TW" sz="3600" spc="-1" strike="noStrike" cap="all">
                <a:solidFill>
                  <a:srgbClr val="349e81"/>
                </a:solidFill>
                <a:latin typeface="Microsoft YaHei"/>
                <a:ea typeface="Microsoft YaHei"/>
              </a:rPr>
              <a:t>最新進度報告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LATEST PROGRESS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39200" y="527040"/>
            <a:ext cx="8640000" cy="57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本期完成了 </a:t>
            </a:r>
            <a:r>
              <a:rPr b="1" lang="en-US" sz="2800" spc="-1" strike="noStrike">
                <a:solidFill>
                  <a:srgbClr val="0a336b"/>
                </a:solidFill>
                <a:latin typeface="Microsoft YaHei"/>
              </a:rPr>
              <a:t>4 </a:t>
            </a:r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件事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34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35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02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36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38" name=""/>
          <p:cNvSpPr/>
          <p:nvPr/>
        </p:nvSpPr>
        <p:spPr>
          <a:xfrm>
            <a:off x="450000" y="1260000"/>
            <a:ext cx="5400000" cy="138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39" name=""/>
          <p:cNvSpPr/>
          <p:nvPr/>
        </p:nvSpPr>
        <p:spPr>
          <a:xfrm>
            <a:off x="622800" y="1411200"/>
            <a:ext cx="352800" cy="352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1" lang="en-US" sz="15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069200" y="1432800"/>
            <a:ext cx="459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650" spc="-1" strike="noStrike">
                <a:solidFill>
                  <a:srgbClr val="0a336b"/>
                </a:solidFill>
                <a:latin typeface="Microsoft YaHei"/>
              </a:rPr>
              <a:t>產生報到 </a:t>
            </a:r>
            <a:r>
              <a:rPr b="1" lang="en-US" sz="1650" spc="-1" strike="noStrike">
                <a:solidFill>
                  <a:srgbClr val="0a336b"/>
                </a:solidFill>
                <a:latin typeface="Microsoft YaHei"/>
              </a:rPr>
              <a:t>QR Code</a:t>
            </a:r>
            <a:endParaRPr b="1" lang="en-US" sz="16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48000" y="1818000"/>
            <a:ext cx="500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30" spc="-1" strike="noStrike">
                <a:solidFill>
                  <a:srgbClr val="263a4d"/>
                </a:solidFill>
                <a:latin typeface="Microsoft YaHei"/>
              </a:rPr>
              <a:t>醫師選定病人後，畫面可直接產生本次報到使用的 </a:t>
            </a:r>
            <a:r>
              <a:rPr b="0" lang="en-US" sz="1330" spc="-1" strike="noStrike">
                <a:solidFill>
                  <a:srgbClr val="263a4d"/>
                </a:solidFill>
                <a:latin typeface="Microsoft YaHei"/>
              </a:rPr>
              <a:t>QR Code</a:t>
            </a:r>
            <a:r>
              <a:rPr b="0" lang="zh-CN" sz="1330" spc="-1" strike="noStrike">
                <a:solidFill>
                  <a:srgbClr val="263a4d"/>
                </a:solidFill>
                <a:latin typeface="Microsoft YaHei"/>
              </a:rPr>
              <a:t>。</a:t>
            </a:r>
            <a:endParaRPr b="0" lang="en-US" sz="13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42" name=""/>
          <p:cNvSpPr/>
          <p:nvPr/>
        </p:nvSpPr>
        <p:spPr>
          <a:xfrm>
            <a:off x="6066000" y="1260000"/>
            <a:ext cx="5400000" cy="138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43" name=""/>
          <p:cNvSpPr/>
          <p:nvPr/>
        </p:nvSpPr>
        <p:spPr>
          <a:xfrm>
            <a:off x="6238800" y="1411200"/>
            <a:ext cx="352800" cy="352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1" lang="en-US" sz="15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685200" y="1432800"/>
            <a:ext cx="459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650" spc="-1" strike="noStrike">
                <a:solidFill>
                  <a:srgbClr val="0a336b"/>
                </a:solidFill>
                <a:latin typeface="Microsoft YaHei"/>
              </a:rPr>
              <a:t>病患掃碼開始問診</a:t>
            </a:r>
            <a:endParaRPr b="1" lang="en-US" sz="16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264000" y="1818000"/>
            <a:ext cx="500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30" spc="-1" strike="noStrike">
                <a:solidFill>
                  <a:srgbClr val="263a4d"/>
                </a:solidFill>
                <a:latin typeface="Microsoft YaHei"/>
              </a:rPr>
              <a:t>病患可用手機掃描，也可以貼上代碼，不必手動尋找病例。</a:t>
            </a:r>
            <a:endParaRPr b="0" lang="en-US" sz="13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46" name=""/>
          <p:cNvSpPr/>
          <p:nvPr/>
        </p:nvSpPr>
        <p:spPr>
          <a:xfrm>
            <a:off x="450000" y="2898000"/>
            <a:ext cx="5400000" cy="138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47" name=""/>
          <p:cNvSpPr/>
          <p:nvPr/>
        </p:nvSpPr>
        <p:spPr>
          <a:xfrm>
            <a:off x="622800" y="3049200"/>
            <a:ext cx="352800" cy="352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1" lang="en-US" sz="15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069200" y="3070800"/>
            <a:ext cx="459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650" spc="-1" strike="noStrike">
                <a:solidFill>
                  <a:srgbClr val="0a336b"/>
                </a:solidFill>
                <a:latin typeface="Microsoft YaHei"/>
              </a:rPr>
              <a:t>醫師修改並確認摘要</a:t>
            </a:r>
            <a:endParaRPr b="1" lang="en-US" sz="16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48000" y="3456000"/>
            <a:ext cx="500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30" spc="-1" strike="noStrike">
                <a:solidFill>
                  <a:srgbClr val="263a4d"/>
                </a:solidFill>
                <a:latin typeface="Microsoft YaHei"/>
              </a:rPr>
              <a:t>AI </a:t>
            </a:r>
            <a:r>
              <a:rPr b="0" lang="zh-CN" sz="1330" spc="-1" strike="noStrike">
                <a:solidFill>
                  <a:srgbClr val="263a4d"/>
                </a:solidFill>
                <a:latin typeface="Microsoft YaHei"/>
              </a:rPr>
              <a:t>整理的七段摘要可逐段修改、逐段確認，畫面會顯示完成進度。</a:t>
            </a:r>
            <a:endParaRPr b="0" lang="en-US" sz="13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50" name=""/>
          <p:cNvSpPr/>
          <p:nvPr/>
        </p:nvSpPr>
        <p:spPr>
          <a:xfrm>
            <a:off x="6066000" y="2898000"/>
            <a:ext cx="5400000" cy="138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51" name=""/>
          <p:cNvSpPr/>
          <p:nvPr/>
        </p:nvSpPr>
        <p:spPr>
          <a:xfrm>
            <a:off x="6238800" y="3049200"/>
            <a:ext cx="352800" cy="352800"/>
          </a:xfrm>
          <a:prstGeom prst="ellipse">
            <a:avLst/>
          </a:prstGeom>
          <a:solidFill>
            <a:srgbClr val="84d03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1" lang="en-US" sz="15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685200" y="3070800"/>
            <a:ext cx="459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650" spc="-1" strike="noStrike">
                <a:solidFill>
                  <a:srgbClr val="0a336b"/>
                </a:solidFill>
                <a:latin typeface="Microsoft YaHei"/>
              </a:rPr>
              <a:t>確認後送回病歷</a:t>
            </a:r>
            <a:endParaRPr b="1" lang="en-US" sz="16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264000" y="3456000"/>
            <a:ext cx="500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30" spc="-1" strike="noStrike">
                <a:solidFill>
                  <a:srgbClr val="263a4d"/>
                </a:solidFill>
                <a:latin typeface="Microsoft YaHei"/>
              </a:rPr>
              <a:t>送出前再次核對病人與完整內容，全部確認後才可送回院方病歷系統。</a:t>
            </a:r>
            <a:endParaRPr b="0" lang="en-US" sz="13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54" name=""/>
          <p:cNvSpPr/>
          <p:nvPr/>
        </p:nvSpPr>
        <p:spPr>
          <a:xfrm>
            <a:off x="774000" y="4734000"/>
            <a:ext cx="10278000" cy="871200"/>
          </a:xfrm>
          <a:prstGeom prst="round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155" name=""/>
          <p:cNvSpPr txBox="1"/>
          <p:nvPr/>
        </p:nvSpPr>
        <p:spPr>
          <a:xfrm>
            <a:off x="990000" y="4888800"/>
            <a:ext cx="984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2000" spc="-1" strike="noStrike">
                <a:solidFill>
                  <a:srgbClr val="ffffff"/>
                </a:solidFill>
                <a:latin typeface="Microsoft YaHei"/>
              </a:rPr>
              <a:t>從「找到病人」到「完成問診並回存摘要」</a:t>
            </a:r>
            <a:endParaRPr b="1" lang="en-US" sz="20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990000" y="5191200"/>
            <a:ext cx="984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350" spc="-1" strike="noStrike">
                <a:solidFill>
                  <a:srgbClr val="ffffff"/>
                </a:solidFill>
                <a:latin typeface="Microsoft YaHei"/>
              </a:rPr>
              <a:t>前端與後端流程已完整串起來</a:t>
            </a:r>
            <a:endParaRPr b="0" lang="en-US" sz="13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PATIENT CHECK-IN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病患報到更簡單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59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60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03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61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63" name=""/>
          <p:cNvSpPr/>
          <p:nvPr/>
        </p:nvSpPr>
        <p:spPr>
          <a:xfrm>
            <a:off x="450000" y="1332000"/>
            <a:ext cx="3492000" cy="253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64" name=""/>
          <p:cNvSpPr/>
          <p:nvPr/>
        </p:nvSpPr>
        <p:spPr>
          <a:xfrm>
            <a:off x="1861200" y="1512000"/>
            <a:ext cx="525600" cy="5256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1" lang="en-US" sz="22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48000" y="21780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800" spc="-1" strike="noStrike">
                <a:solidFill>
                  <a:srgbClr val="0a336b"/>
                </a:solidFill>
                <a:latin typeface="Microsoft YaHei"/>
              </a:rPr>
              <a:t>醫師選定病人</a:t>
            </a:r>
            <a:endParaRPr b="1" lang="en-US" sz="1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30800" y="2602800"/>
            <a:ext cx="2930400" cy="77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在既有病人資料中選擇本次要進行問診的病人。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67" name=""/>
          <p:cNvSpPr/>
          <p:nvPr/>
        </p:nvSpPr>
        <p:spPr>
          <a:xfrm>
            <a:off x="4194000" y="1332000"/>
            <a:ext cx="3492000" cy="253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68" name=""/>
          <p:cNvSpPr/>
          <p:nvPr/>
        </p:nvSpPr>
        <p:spPr>
          <a:xfrm>
            <a:off x="5605200" y="1512000"/>
            <a:ext cx="525600" cy="5256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1" lang="en-US" sz="22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392000" y="21780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800" spc="-1" strike="noStrike">
                <a:solidFill>
                  <a:srgbClr val="0a336b"/>
                </a:solidFill>
                <a:latin typeface="Microsoft YaHei"/>
              </a:rPr>
              <a:t>產生一次性 </a:t>
            </a:r>
            <a:r>
              <a:rPr b="1" lang="en-US" sz="1800" spc="-1" strike="noStrike">
                <a:solidFill>
                  <a:srgbClr val="0a336b"/>
                </a:solidFill>
                <a:latin typeface="Microsoft YaHei"/>
              </a:rPr>
              <a:t>QR</a:t>
            </a:r>
            <a:endParaRPr b="1" lang="en-US" sz="1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474800" y="2602800"/>
            <a:ext cx="2930400" cy="77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畫面顯示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QR Code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、有效時間，也可以重新產生。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71" name=""/>
          <p:cNvSpPr/>
          <p:nvPr/>
        </p:nvSpPr>
        <p:spPr>
          <a:xfrm>
            <a:off x="7938000" y="1332000"/>
            <a:ext cx="3492000" cy="253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72" name=""/>
          <p:cNvSpPr/>
          <p:nvPr/>
        </p:nvSpPr>
        <p:spPr>
          <a:xfrm>
            <a:off x="9349200" y="1512000"/>
            <a:ext cx="525600" cy="5256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1" lang="en-US" sz="22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8136000" y="21780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800" spc="-1" strike="noStrike">
                <a:solidFill>
                  <a:srgbClr val="0a336b"/>
                </a:solidFill>
                <a:latin typeface="Microsoft YaHei"/>
              </a:rPr>
              <a:t>病患掃碼進入</a:t>
            </a:r>
            <a:endParaRPr b="1" lang="en-US" sz="1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8218800" y="2602800"/>
            <a:ext cx="2930400" cy="77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系統確認病人後，自動帶入本次就醫資料並開始問診。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787200" y="2322000"/>
            <a:ext cx="367200" cy="516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5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7531200" y="2322000"/>
            <a:ext cx="367200" cy="516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5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77" name=""/>
          <p:cNvSpPr/>
          <p:nvPr/>
        </p:nvSpPr>
        <p:spPr>
          <a:xfrm>
            <a:off x="450000" y="4147200"/>
            <a:ext cx="10980000" cy="151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178" name=""/>
          <p:cNvSpPr txBox="1"/>
          <p:nvPr/>
        </p:nvSpPr>
        <p:spPr>
          <a:xfrm>
            <a:off x="666000" y="4305600"/>
            <a:ext cx="25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病患不會卡在入口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79" name=""/>
          <p:cNvSpPr/>
          <p:nvPr/>
        </p:nvSpPr>
        <p:spPr>
          <a:xfrm>
            <a:off x="720000" y="4770000"/>
            <a:ext cx="64800" cy="64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80" name=""/>
          <p:cNvSpPr txBox="1"/>
          <p:nvPr/>
        </p:nvSpPr>
        <p:spPr>
          <a:xfrm>
            <a:off x="849600" y="4687200"/>
            <a:ext cx="10202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30" spc="-1" strike="noStrike">
                <a:solidFill>
                  <a:srgbClr val="263a4d"/>
                </a:solidFill>
                <a:latin typeface="Microsoft YaHei"/>
              </a:rPr>
              <a:t>相機可用時直接掃描</a:t>
            </a:r>
            <a:endParaRPr b="0" lang="en-US" sz="13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81" name=""/>
          <p:cNvSpPr/>
          <p:nvPr/>
        </p:nvSpPr>
        <p:spPr>
          <a:xfrm>
            <a:off x="720000" y="5050800"/>
            <a:ext cx="64800" cy="64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82" name=""/>
          <p:cNvSpPr txBox="1"/>
          <p:nvPr/>
        </p:nvSpPr>
        <p:spPr>
          <a:xfrm>
            <a:off x="849600" y="4968000"/>
            <a:ext cx="10202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30" spc="-1" strike="noStrike">
                <a:solidFill>
                  <a:srgbClr val="263a4d"/>
                </a:solidFill>
                <a:latin typeface="Microsoft YaHei"/>
              </a:rPr>
              <a:t>相機無法使用時可貼上代碼</a:t>
            </a:r>
            <a:endParaRPr b="0" lang="en-US" sz="13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83" name=""/>
          <p:cNvSpPr/>
          <p:nvPr/>
        </p:nvSpPr>
        <p:spPr>
          <a:xfrm>
            <a:off x="720000" y="5331600"/>
            <a:ext cx="64800" cy="64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84" name=""/>
          <p:cNvSpPr txBox="1"/>
          <p:nvPr/>
        </p:nvSpPr>
        <p:spPr>
          <a:xfrm>
            <a:off x="849600" y="5248800"/>
            <a:ext cx="10202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30" spc="-1" strike="noStrike">
                <a:solidFill>
                  <a:srgbClr val="263a4d"/>
                </a:solidFill>
                <a:latin typeface="Microsoft YaHei"/>
              </a:rPr>
              <a:t>代碼失效或相機無法開啟時，畫面會提供清楚提示</a:t>
            </a:r>
            <a:endParaRPr b="0" lang="en-US" sz="13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PATIENT EXPERIENCE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病患問診體驗更完整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87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88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04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89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91" name=""/>
          <p:cNvSpPr/>
          <p:nvPr/>
        </p:nvSpPr>
        <p:spPr>
          <a:xfrm>
            <a:off x="450000" y="1278000"/>
            <a:ext cx="5400000" cy="141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92" name=""/>
          <p:cNvSpPr/>
          <p:nvPr/>
        </p:nvSpPr>
        <p:spPr>
          <a:xfrm>
            <a:off x="450000" y="1278000"/>
            <a:ext cx="72000" cy="1411200"/>
          </a:xfrm>
          <a:prstGeom prst="roundRect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193" name=""/>
          <p:cNvSpPr txBox="1"/>
          <p:nvPr/>
        </p:nvSpPr>
        <p:spPr>
          <a:xfrm>
            <a:off x="666000" y="1450800"/>
            <a:ext cx="49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已知資料自動帶入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66000" y="1825200"/>
            <a:ext cx="491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姓名、性別、生日與既有病史等資料可先帶入，減少重複詢問。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95" name=""/>
          <p:cNvSpPr/>
          <p:nvPr/>
        </p:nvSpPr>
        <p:spPr>
          <a:xfrm>
            <a:off x="6066000" y="1278000"/>
            <a:ext cx="5400000" cy="141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96" name=""/>
          <p:cNvSpPr/>
          <p:nvPr/>
        </p:nvSpPr>
        <p:spPr>
          <a:xfrm>
            <a:off x="6066000" y="1278000"/>
            <a:ext cx="72000" cy="1411200"/>
          </a:xfrm>
          <a:prstGeom prst="round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97" name=""/>
          <p:cNvSpPr txBox="1"/>
          <p:nvPr/>
        </p:nvSpPr>
        <p:spPr>
          <a:xfrm>
            <a:off x="6282000" y="1450800"/>
            <a:ext cx="49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依序完成問卷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282000" y="1825200"/>
            <a:ext cx="491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病患依畫面逐題回答，內容聚焦胸痛、頭痛或腹痛等問診情境。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99" name=""/>
          <p:cNvSpPr/>
          <p:nvPr/>
        </p:nvSpPr>
        <p:spPr>
          <a:xfrm>
            <a:off x="450000" y="2934000"/>
            <a:ext cx="5400000" cy="141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00" name=""/>
          <p:cNvSpPr/>
          <p:nvPr/>
        </p:nvSpPr>
        <p:spPr>
          <a:xfrm>
            <a:off x="450000" y="2934000"/>
            <a:ext cx="72000" cy="1411200"/>
          </a:xfrm>
          <a:prstGeom prst="roundRect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01" name=""/>
          <p:cNvSpPr txBox="1"/>
          <p:nvPr/>
        </p:nvSpPr>
        <p:spPr>
          <a:xfrm>
            <a:off x="666000" y="3106800"/>
            <a:ext cx="49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文字或語音皆可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66000" y="3481200"/>
            <a:ext cx="491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病患可輸入文字，也可用語音回答；辨識結果會先讓病患確認。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03" name=""/>
          <p:cNvSpPr/>
          <p:nvPr/>
        </p:nvSpPr>
        <p:spPr>
          <a:xfrm>
            <a:off x="6066000" y="2934000"/>
            <a:ext cx="5400000" cy="141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04" name=""/>
          <p:cNvSpPr/>
          <p:nvPr/>
        </p:nvSpPr>
        <p:spPr>
          <a:xfrm>
            <a:off x="6066000" y="2934000"/>
            <a:ext cx="72000" cy="1411200"/>
          </a:xfrm>
          <a:prstGeom prst="roundRect">
            <a:avLst/>
          </a:prstGeom>
          <a:solidFill>
            <a:srgbClr val="84d035"/>
          </a:solidFill>
          <a:ln w="0">
            <a:noFill/>
          </a:ln>
        </p:spPr>
      </p:sp>
      <p:sp>
        <p:nvSpPr>
          <p:cNvPr id="205" name=""/>
          <p:cNvSpPr txBox="1"/>
          <p:nvPr/>
        </p:nvSpPr>
        <p:spPr>
          <a:xfrm>
            <a:off x="6282000" y="3106800"/>
            <a:ext cx="49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疼痛位置更直覺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6282000" y="3481200"/>
            <a:ext cx="491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可直接點選人體圖上的疼痛位置，畫面選項會同步更新。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07" name=""/>
          <p:cNvSpPr/>
          <p:nvPr/>
        </p:nvSpPr>
        <p:spPr>
          <a:xfrm>
            <a:off x="1134000" y="4770000"/>
            <a:ext cx="9576000" cy="7848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208" name=""/>
          <p:cNvSpPr txBox="1"/>
          <p:nvPr/>
        </p:nvSpPr>
        <p:spPr>
          <a:xfrm>
            <a:off x="1314000" y="4939200"/>
            <a:ext cx="921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500" spc="-1" strike="noStrike">
                <a:solidFill>
                  <a:srgbClr val="0a336b"/>
                </a:solidFill>
                <a:latin typeface="Microsoft YaHei"/>
              </a:rPr>
              <a:t>問診畫面持續顯示醫師形象與朗讀字幕，讓病患知道目前問到哪裡。</a:t>
            </a:r>
            <a:endParaRPr b="1" lang="en-US" sz="15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DOCTOR WORKSPACE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醫師看病例更清楚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11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12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05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13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15" name=""/>
          <p:cNvSpPr/>
          <p:nvPr/>
        </p:nvSpPr>
        <p:spPr>
          <a:xfrm>
            <a:off x="450000" y="1278000"/>
            <a:ext cx="4518000" cy="4374000"/>
          </a:xfrm>
          <a:prstGeom prst="roundRect">
            <a:avLst/>
          </a:prstGeom>
          <a:solidFill>
            <a:srgbClr val="f6f8fa"/>
          </a:solidFill>
          <a:ln w="0">
            <a:noFill/>
          </a:ln>
        </p:spPr>
      </p:sp>
      <p:sp>
        <p:nvSpPr>
          <p:cNvPr id="216" name=""/>
          <p:cNvSpPr txBox="1"/>
          <p:nvPr/>
        </p:nvSpPr>
        <p:spPr>
          <a:xfrm>
            <a:off x="684000" y="1468800"/>
            <a:ext cx="403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800" spc="-1" strike="noStrike">
                <a:solidFill>
                  <a:srgbClr val="0a336b"/>
                </a:solidFill>
                <a:latin typeface="Microsoft YaHei"/>
              </a:rPr>
              <a:t>病例頁面集中呈現</a:t>
            </a:r>
            <a:endParaRPr b="1" lang="en-US" sz="1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17" name=""/>
          <p:cNvSpPr/>
          <p:nvPr/>
        </p:nvSpPr>
        <p:spPr>
          <a:xfrm>
            <a:off x="666000" y="1915200"/>
            <a:ext cx="4068000" cy="619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18" name=""/>
          <p:cNvSpPr txBox="1"/>
          <p:nvPr/>
        </p:nvSpPr>
        <p:spPr>
          <a:xfrm>
            <a:off x="799200" y="2030400"/>
            <a:ext cx="12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350" spc="-1" strike="noStrike">
                <a:solidFill>
                  <a:srgbClr val="349e81"/>
                </a:solidFill>
                <a:latin typeface="Microsoft YaHei"/>
              </a:rPr>
              <a:t>基本資料</a:t>
            </a:r>
            <a:endParaRPr b="1" lang="en-US" sz="13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908000" y="2023200"/>
            <a:ext cx="261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250" spc="-1" strike="noStrike">
                <a:solidFill>
                  <a:srgbClr val="263a4d"/>
                </a:solidFill>
                <a:latin typeface="Microsoft YaHei"/>
              </a:rPr>
              <a:t>病人身分與本次問診資訊</a:t>
            </a:r>
            <a:endParaRPr b="0" lang="en-US" sz="125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20" name=""/>
          <p:cNvSpPr/>
          <p:nvPr/>
        </p:nvSpPr>
        <p:spPr>
          <a:xfrm>
            <a:off x="666000" y="2721600"/>
            <a:ext cx="4068000" cy="619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21" name=""/>
          <p:cNvSpPr txBox="1"/>
          <p:nvPr/>
        </p:nvSpPr>
        <p:spPr>
          <a:xfrm>
            <a:off x="799200" y="2836800"/>
            <a:ext cx="12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350" spc="-1" strike="noStrike">
                <a:solidFill>
                  <a:srgbClr val="349e81"/>
                </a:solidFill>
                <a:latin typeface="Microsoft YaHei"/>
              </a:rPr>
              <a:t>主訴與回答</a:t>
            </a:r>
            <a:endParaRPr b="1" lang="en-US" sz="13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908000" y="2829600"/>
            <a:ext cx="261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250" spc="-1" strike="noStrike">
                <a:solidFill>
                  <a:srgbClr val="263a4d"/>
                </a:solidFill>
                <a:latin typeface="Microsoft YaHei"/>
              </a:rPr>
              <a:t>病患原始回答與疼痛位置</a:t>
            </a:r>
            <a:endParaRPr b="0" lang="en-US" sz="125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23" name=""/>
          <p:cNvSpPr/>
          <p:nvPr/>
        </p:nvSpPr>
        <p:spPr>
          <a:xfrm>
            <a:off x="666000" y="3528000"/>
            <a:ext cx="4068000" cy="619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24" name=""/>
          <p:cNvSpPr txBox="1"/>
          <p:nvPr/>
        </p:nvSpPr>
        <p:spPr>
          <a:xfrm>
            <a:off x="799200" y="3643200"/>
            <a:ext cx="12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50" spc="-1" strike="noStrike">
                <a:solidFill>
                  <a:srgbClr val="349e81"/>
                </a:solidFill>
                <a:latin typeface="Microsoft YaHei"/>
              </a:rPr>
              <a:t>AI </a:t>
            </a:r>
            <a:r>
              <a:rPr b="1" lang="zh-CN" sz="1350" spc="-1" strike="noStrike">
                <a:solidFill>
                  <a:srgbClr val="349e81"/>
                </a:solidFill>
                <a:latin typeface="Microsoft YaHei"/>
              </a:rPr>
              <a:t>摘要</a:t>
            </a:r>
            <a:endParaRPr b="1" lang="en-US" sz="13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908000" y="3636000"/>
            <a:ext cx="261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250" spc="-1" strike="noStrike">
                <a:solidFill>
                  <a:srgbClr val="263a4d"/>
                </a:solidFill>
                <a:latin typeface="Microsoft YaHei"/>
              </a:rPr>
              <a:t>依段落整理的病歷草稿</a:t>
            </a:r>
            <a:endParaRPr b="0" lang="en-US" sz="125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26" name=""/>
          <p:cNvSpPr/>
          <p:nvPr/>
        </p:nvSpPr>
        <p:spPr>
          <a:xfrm>
            <a:off x="666000" y="4334400"/>
            <a:ext cx="4068000" cy="619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27" name=""/>
          <p:cNvSpPr txBox="1"/>
          <p:nvPr/>
        </p:nvSpPr>
        <p:spPr>
          <a:xfrm>
            <a:off x="799200" y="4449600"/>
            <a:ext cx="12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350" spc="-1" strike="noStrike">
                <a:solidFill>
                  <a:srgbClr val="349e81"/>
                </a:solidFill>
                <a:latin typeface="Microsoft YaHei"/>
              </a:rPr>
              <a:t>確認狀態</a:t>
            </a:r>
            <a:endParaRPr b="1" lang="en-US" sz="13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908000" y="4442400"/>
            <a:ext cx="2610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250" spc="-1" strike="noStrike">
                <a:solidFill>
                  <a:srgbClr val="263a4d"/>
                </a:solidFill>
                <a:latin typeface="Microsoft YaHei"/>
              </a:rPr>
              <a:t>哪些內容已確認、哪些仍待確認</a:t>
            </a:r>
            <a:endParaRPr b="0" lang="en-US" sz="125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29" name=""/>
          <p:cNvSpPr/>
          <p:nvPr/>
        </p:nvSpPr>
        <p:spPr>
          <a:xfrm>
            <a:off x="5238000" y="1278000"/>
            <a:ext cx="6282000" cy="19080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230" name=""/>
          <p:cNvSpPr txBox="1"/>
          <p:nvPr/>
        </p:nvSpPr>
        <p:spPr>
          <a:xfrm>
            <a:off x="5490000" y="1458000"/>
            <a:ext cx="57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800" spc="-1" strike="noStrike">
                <a:solidFill>
                  <a:srgbClr val="0a336b"/>
                </a:solidFill>
                <a:latin typeface="Microsoft YaHei"/>
              </a:rPr>
              <a:t>找病例更快</a:t>
            </a:r>
            <a:endParaRPr b="1" lang="en-US" sz="1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31" name=""/>
          <p:cNvSpPr/>
          <p:nvPr/>
        </p:nvSpPr>
        <p:spPr>
          <a:xfrm>
            <a:off x="5508000" y="1954800"/>
            <a:ext cx="64800" cy="64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232" name=""/>
          <p:cNvSpPr txBox="1"/>
          <p:nvPr/>
        </p:nvSpPr>
        <p:spPr>
          <a:xfrm>
            <a:off x="5637600" y="1872000"/>
            <a:ext cx="5522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可依姓名、問診編號或主訴搜尋</a:t>
            </a:r>
            <a:endParaRPr b="0" lang="en-US" sz="13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33" name=""/>
          <p:cNvSpPr/>
          <p:nvPr/>
        </p:nvSpPr>
        <p:spPr>
          <a:xfrm>
            <a:off x="5508000" y="2278800"/>
            <a:ext cx="64800" cy="64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234" name=""/>
          <p:cNvSpPr txBox="1"/>
          <p:nvPr/>
        </p:nvSpPr>
        <p:spPr>
          <a:xfrm>
            <a:off x="5637600" y="2196000"/>
            <a:ext cx="5522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病例資訊與摘要集中在同一頁</a:t>
            </a:r>
            <a:endParaRPr b="0" lang="en-US" sz="13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35" name=""/>
          <p:cNvSpPr/>
          <p:nvPr/>
        </p:nvSpPr>
        <p:spPr>
          <a:xfrm>
            <a:off x="5508000" y="2602800"/>
            <a:ext cx="64800" cy="64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236" name=""/>
          <p:cNvSpPr txBox="1"/>
          <p:nvPr/>
        </p:nvSpPr>
        <p:spPr>
          <a:xfrm>
            <a:off x="5637600" y="2520000"/>
            <a:ext cx="5522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手機與桌機都保留清楚的閱讀順序</a:t>
            </a:r>
            <a:endParaRPr b="0" lang="en-US" sz="13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37" name=""/>
          <p:cNvSpPr/>
          <p:nvPr/>
        </p:nvSpPr>
        <p:spPr>
          <a:xfrm>
            <a:off x="5238000" y="3366000"/>
            <a:ext cx="6282000" cy="22860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238" name=""/>
          <p:cNvSpPr txBox="1"/>
          <p:nvPr/>
        </p:nvSpPr>
        <p:spPr>
          <a:xfrm>
            <a:off x="5490000" y="3556800"/>
            <a:ext cx="57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800" spc="-1" strike="noStrike">
                <a:solidFill>
                  <a:srgbClr val="0a336b"/>
                </a:solidFill>
                <a:latin typeface="Microsoft YaHei"/>
              </a:rPr>
              <a:t>AI </a:t>
            </a:r>
            <a:r>
              <a:rPr b="1" lang="zh-CN" sz="1800" spc="-1" strike="noStrike">
                <a:solidFill>
                  <a:srgbClr val="0a336b"/>
                </a:solidFill>
                <a:latin typeface="Microsoft YaHei"/>
              </a:rPr>
              <a:t>內容仍由醫師做最後決定</a:t>
            </a:r>
            <a:endParaRPr b="1" lang="en-US" sz="1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490000" y="4014000"/>
            <a:ext cx="5616000" cy="849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20" spc="-1" strike="noStrike">
                <a:solidFill>
                  <a:srgbClr val="263a4d"/>
                </a:solidFill>
                <a:latin typeface="Microsoft YaHei"/>
              </a:rPr>
              <a:t>系統整理的是可編輯的初步摘要，不會直接當成正式診斷。醫師可修改內容，並逐段確認後再進行下一步。</a:t>
            </a:r>
            <a:endParaRPr b="0" lang="en-US" sz="14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40" name=""/>
          <p:cNvSpPr/>
          <p:nvPr/>
        </p:nvSpPr>
        <p:spPr>
          <a:xfrm>
            <a:off x="5418000" y="5083200"/>
            <a:ext cx="5778000" cy="30960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41" name=""/>
          <p:cNvSpPr txBox="1"/>
          <p:nvPr/>
        </p:nvSpPr>
        <p:spPr>
          <a:xfrm>
            <a:off x="5500800" y="5148000"/>
            <a:ext cx="561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950" spc="-1" strike="noStrike">
                <a:solidFill>
                  <a:srgbClr val="2ca857"/>
                </a:solidFill>
                <a:latin typeface="Microsoft YaHei"/>
              </a:rPr>
              <a:t>切換病人時會載入新病例，不沿用上一位病人的修改。</a:t>
            </a:r>
            <a:endParaRPr b="1" lang="en-US" sz="95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REVIEW BEFORE SUBMIT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摘要確認與送出更安心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44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45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06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46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48" name=""/>
          <p:cNvSpPr/>
          <p:nvPr/>
        </p:nvSpPr>
        <p:spPr>
          <a:xfrm>
            <a:off x="450000" y="1339200"/>
            <a:ext cx="2484000" cy="243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49" name=""/>
          <p:cNvSpPr/>
          <p:nvPr/>
        </p:nvSpPr>
        <p:spPr>
          <a:xfrm>
            <a:off x="1465200" y="1519200"/>
            <a:ext cx="460800" cy="460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1" lang="en-US" sz="1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01200" y="2131200"/>
            <a:ext cx="217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600" spc="-1" strike="noStrike">
                <a:solidFill>
                  <a:srgbClr val="0a336b"/>
                </a:solidFill>
                <a:latin typeface="Microsoft YaHei"/>
              </a:rPr>
              <a:t>修改內容</a:t>
            </a:r>
            <a:endParaRPr b="1" lang="en-US" sz="16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48000" y="2556000"/>
            <a:ext cx="2088000" cy="741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310" spc="-1" strike="noStrike">
                <a:solidFill>
                  <a:srgbClr val="263a4d"/>
                </a:solidFill>
                <a:latin typeface="Microsoft YaHei"/>
              </a:rPr>
              <a:t>醫師直接編輯七段病歷摘要。</a:t>
            </a:r>
            <a:endParaRPr b="0" lang="en-US" sz="131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52" name=""/>
          <p:cNvSpPr/>
          <p:nvPr/>
        </p:nvSpPr>
        <p:spPr>
          <a:xfrm>
            <a:off x="3294000" y="1339200"/>
            <a:ext cx="2484000" cy="243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53" name=""/>
          <p:cNvSpPr/>
          <p:nvPr/>
        </p:nvSpPr>
        <p:spPr>
          <a:xfrm>
            <a:off x="4309200" y="1519200"/>
            <a:ext cx="460800" cy="460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1" lang="en-US" sz="1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445200" y="2131200"/>
            <a:ext cx="217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600" spc="-1" strike="noStrike">
                <a:solidFill>
                  <a:srgbClr val="0a336b"/>
                </a:solidFill>
                <a:latin typeface="Microsoft YaHei"/>
              </a:rPr>
              <a:t>逐段確認</a:t>
            </a:r>
            <a:endParaRPr b="1" lang="en-US" sz="16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492000" y="2556000"/>
            <a:ext cx="2088000" cy="10504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310" spc="-1" strike="noStrike">
                <a:solidFill>
                  <a:srgbClr val="263a4d"/>
                </a:solidFill>
                <a:latin typeface="Microsoft YaHei"/>
              </a:rPr>
              <a:t>每一段都要個別確認；再次修改會回到待確認。</a:t>
            </a:r>
            <a:endParaRPr b="0" lang="en-US" sz="131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56" name=""/>
          <p:cNvSpPr/>
          <p:nvPr/>
        </p:nvSpPr>
        <p:spPr>
          <a:xfrm>
            <a:off x="6138000" y="1339200"/>
            <a:ext cx="2484000" cy="243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57" name=""/>
          <p:cNvSpPr/>
          <p:nvPr/>
        </p:nvSpPr>
        <p:spPr>
          <a:xfrm>
            <a:off x="7153200" y="1519200"/>
            <a:ext cx="460800" cy="460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1" lang="en-US" sz="1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6289200" y="2131200"/>
            <a:ext cx="217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600" spc="-1" strike="noStrike">
                <a:solidFill>
                  <a:srgbClr val="0a336b"/>
                </a:solidFill>
                <a:latin typeface="Microsoft YaHei"/>
              </a:rPr>
              <a:t>最後核對</a:t>
            </a:r>
            <a:endParaRPr b="1" lang="en-US" sz="16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336000" y="2556000"/>
            <a:ext cx="2088000" cy="10504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310" spc="-1" strike="noStrike">
                <a:solidFill>
                  <a:srgbClr val="263a4d"/>
                </a:solidFill>
                <a:latin typeface="Microsoft YaHei"/>
              </a:rPr>
              <a:t>再次查看病人、本次就醫資訊與全部摘要。</a:t>
            </a:r>
            <a:endParaRPr b="0" lang="en-US" sz="131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60" name=""/>
          <p:cNvSpPr/>
          <p:nvPr/>
        </p:nvSpPr>
        <p:spPr>
          <a:xfrm>
            <a:off x="8982000" y="1339200"/>
            <a:ext cx="2484000" cy="243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61" name=""/>
          <p:cNvSpPr/>
          <p:nvPr/>
        </p:nvSpPr>
        <p:spPr>
          <a:xfrm>
            <a:off x="9997200" y="1519200"/>
            <a:ext cx="460800" cy="460800"/>
          </a:xfrm>
          <a:prstGeom prst="ellipse">
            <a:avLst/>
          </a:prstGeom>
          <a:solidFill>
            <a:srgbClr val="84d03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1" lang="en-US" sz="1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9133200" y="2131200"/>
            <a:ext cx="217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600" spc="-1" strike="noStrike">
                <a:solidFill>
                  <a:srgbClr val="0a336b"/>
                </a:solidFill>
                <a:latin typeface="Microsoft YaHei"/>
              </a:rPr>
              <a:t>確認送出</a:t>
            </a:r>
            <a:endParaRPr b="1" lang="en-US" sz="16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9180000" y="2556000"/>
            <a:ext cx="2088000" cy="10504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310" spc="-1" strike="noStrike">
                <a:solidFill>
                  <a:srgbClr val="263a4d"/>
                </a:solidFill>
                <a:latin typeface="Microsoft YaHei"/>
              </a:rPr>
              <a:t>全部確認完成後，才可送回院方病歷系統。</a:t>
            </a:r>
            <a:endParaRPr b="0" lang="en-US" sz="131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916000" y="2178000"/>
            <a:ext cx="360000" cy="48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3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3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5760000" y="2178000"/>
            <a:ext cx="360000" cy="48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3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3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8604000" y="2178000"/>
            <a:ext cx="360000" cy="48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3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3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67" name=""/>
          <p:cNvSpPr/>
          <p:nvPr/>
        </p:nvSpPr>
        <p:spPr>
          <a:xfrm>
            <a:off x="450000" y="4068000"/>
            <a:ext cx="11016000" cy="15768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268" name=""/>
          <p:cNvSpPr txBox="1"/>
          <p:nvPr/>
        </p:nvSpPr>
        <p:spPr>
          <a:xfrm>
            <a:off x="684000" y="4230000"/>
            <a:ext cx="1054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750" spc="-1" strike="noStrike">
                <a:solidFill>
                  <a:srgbClr val="0a336b"/>
                </a:solidFill>
                <a:latin typeface="Microsoft YaHei"/>
              </a:rPr>
              <a:t>最新改善：長篇摘要在手機上也能完整核對</a:t>
            </a:r>
            <a:endParaRPr b="1" lang="en-US" sz="17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92000" y="4654800"/>
            <a:ext cx="10332000" cy="47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420" spc="-1" strike="noStrike">
                <a:solidFill>
                  <a:srgbClr val="263a4d"/>
                </a:solidFill>
                <a:latin typeface="Microsoft YaHei"/>
              </a:rPr>
              <a:t>確認視窗可一路捲動到底，標題與送出按鈕保持清楚可見；醫師可以返回修改，也可以完成送出。</a:t>
            </a:r>
            <a:endParaRPr b="0" lang="en-US" sz="14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HOW THE TWO SIDES WORK TOGETHER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39200" y="527040"/>
            <a:ext cx="8640000" cy="57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en-US" sz="2800" spc="-1" strike="noStrike">
                <a:solidFill>
                  <a:srgbClr val="0a336b"/>
                </a:solidFill>
                <a:latin typeface="Microsoft YaHei"/>
              </a:rPr>
              <a:t>Frontend </a:t>
            </a:r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與 </a:t>
            </a:r>
            <a:r>
              <a:rPr b="1" lang="en-US" sz="2800" spc="-1" strike="noStrike">
                <a:solidFill>
                  <a:srgbClr val="0a336b"/>
                </a:solidFill>
                <a:latin typeface="Microsoft YaHei"/>
              </a:rPr>
              <a:t>Backend </a:t>
            </a:r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各做什麼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72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73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07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74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76" name=""/>
          <p:cNvSpPr/>
          <p:nvPr/>
        </p:nvSpPr>
        <p:spPr>
          <a:xfrm>
            <a:off x="450000" y="1278000"/>
            <a:ext cx="5202000" cy="37620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277" name=""/>
          <p:cNvSpPr txBox="1"/>
          <p:nvPr/>
        </p:nvSpPr>
        <p:spPr>
          <a:xfrm>
            <a:off x="684000" y="1458000"/>
            <a:ext cx="4734000" cy="4071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900" spc="-1" strike="noStrike">
                <a:solidFill>
                  <a:srgbClr val="0a336b"/>
                </a:solidFill>
                <a:latin typeface="Microsoft YaHei"/>
              </a:rPr>
              <a:t>畫面端（</a:t>
            </a:r>
            <a:r>
              <a:rPr b="1" lang="en-US" sz="1900" spc="-1" strike="noStrike">
                <a:solidFill>
                  <a:srgbClr val="0a336b"/>
                </a:solidFill>
                <a:latin typeface="Microsoft YaHei"/>
              </a:rPr>
              <a:t>Frontend</a:t>
            </a:r>
            <a:r>
              <a:rPr b="1" lang="zh-CN" sz="1900" spc="-1" strike="noStrike">
                <a:solidFill>
                  <a:srgbClr val="0a336b"/>
                </a:solidFill>
                <a:latin typeface="Microsoft YaHei"/>
              </a:rPr>
              <a:t>）</a:t>
            </a:r>
            <a:endParaRPr b="1" lang="en-US" sz="19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78" name=""/>
          <p:cNvSpPr/>
          <p:nvPr/>
        </p:nvSpPr>
        <p:spPr>
          <a:xfrm>
            <a:off x="756000" y="2034000"/>
            <a:ext cx="64800" cy="64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279" name=""/>
          <p:cNvSpPr txBox="1"/>
          <p:nvPr/>
        </p:nvSpPr>
        <p:spPr>
          <a:xfrm>
            <a:off x="885600" y="1951200"/>
            <a:ext cx="438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顯示病人與本次問診資訊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80" name=""/>
          <p:cNvSpPr/>
          <p:nvPr/>
        </p:nvSpPr>
        <p:spPr>
          <a:xfrm>
            <a:off x="756000" y="2556000"/>
            <a:ext cx="64800" cy="64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281" name=""/>
          <p:cNvSpPr txBox="1"/>
          <p:nvPr/>
        </p:nvSpPr>
        <p:spPr>
          <a:xfrm>
            <a:off x="885600" y="2473200"/>
            <a:ext cx="438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提供掃碼、問卷、語音與疼痛位置操作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82" name=""/>
          <p:cNvSpPr/>
          <p:nvPr/>
        </p:nvSpPr>
        <p:spPr>
          <a:xfrm>
            <a:off x="756000" y="3078000"/>
            <a:ext cx="64800" cy="64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283" name=""/>
          <p:cNvSpPr txBox="1"/>
          <p:nvPr/>
        </p:nvSpPr>
        <p:spPr>
          <a:xfrm>
            <a:off x="885600" y="2995200"/>
            <a:ext cx="438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呈現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AI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摘要與醫師確認進度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84" name=""/>
          <p:cNvSpPr/>
          <p:nvPr/>
        </p:nvSpPr>
        <p:spPr>
          <a:xfrm>
            <a:off x="756000" y="3600000"/>
            <a:ext cx="64800" cy="648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285" name=""/>
          <p:cNvSpPr txBox="1"/>
          <p:nvPr/>
        </p:nvSpPr>
        <p:spPr>
          <a:xfrm>
            <a:off x="885600" y="3517200"/>
            <a:ext cx="438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在送出前顯示完整核對畫面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86" name=""/>
          <p:cNvSpPr/>
          <p:nvPr/>
        </p:nvSpPr>
        <p:spPr>
          <a:xfrm>
            <a:off x="6228000" y="1278000"/>
            <a:ext cx="5202000" cy="37620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287" name=""/>
          <p:cNvSpPr txBox="1"/>
          <p:nvPr/>
        </p:nvSpPr>
        <p:spPr>
          <a:xfrm>
            <a:off x="6462000" y="1458000"/>
            <a:ext cx="4734000" cy="4071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900" spc="-1" strike="noStrike">
                <a:solidFill>
                  <a:srgbClr val="0a336b"/>
                </a:solidFill>
                <a:latin typeface="Microsoft YaHei"/>
              </a:rPr>
              <a:t>系統後端（</a:t>
            </a:r>
            <a:r>
              <a:rPr b="1" lang="en-US" sz="1900" spc="-1" strike="noStrike">
                <a:solidFill>
                  <a:srgbClr val="0a336b"/>
                </a:solidFill>
                <a:latin typeface="Microsoft YaHei"/>
              </a:rPr>
              <a:t>Backend</a:t>
            </a:r>
            <a:r>
              <a:rPr b="1" lang="zh-CN" sz="1900" spc="-1" strike="noStrike">
                <a:solidFill>
                  <a:srgbClr val="0a336b"/>
                </a:solidFill>
                <a:latin typeface="Microsoft YaHei"/>
              </a:rPr>
              <a:t>）</a:t>
            </a:r>
            <a:endParaRPr b="1" lang="en-US" sz="19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88" name=""/>
          <p:cNvSpPr/>
          <p:nvPr/>
        </p:nvSpPr>
        <p:spPr>
          <a:xfrm>
            <a:off x="6534000" y="2034000"/>
            <a:ext cx="64800" cy="64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89" name=""/>
          <p:cNvSpPr txBox="1"/>
          <p:nvPr/>
        </p:nvSpPr>
        <p:spPr>
          <a:xfrm>
            <a:off x="6663600" y="1951200"/>
            <a:ext cx="438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確認病人與本次就醫紀錄相符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90" name=""/>
          <p:cNvSpPr/>
          <p:nvPr/>
        </p:nvSpPr>
        <p:spPr>
          <a:xfrm>
            <a:off x="6534000" y="2556000"/>
            <a:ext cx="64800" cy="64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91" name=""/>
          <p:cNvSpPr txBox="1"/>
          <p:nvPr/>
        </p:nvSpPr>
        <p:spPr>
          <a:xfrm>
            <a:off x="6663600" y="2473200"/>
            <a:ext cx="438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保存問卷答案與問診結果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92" name=""/>
          <p:cNvSpPr/>
          <p:nvPr/>
        </p:nvSpPr>
        <p:spPr>
          <a:xfrm>
            <a:off x="6534000" y="3078000"/>
            <a:ext cx="64800" cy="64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93" name=""/>
          <p:cNvSpPr txBox="1"/>
          <p:nvPr/>
        </p:nvSpPr>
        <p:spPr>
          <a:xfrm>
            <a:off x="6663600" y="2995200"/>
            <a:ext cx="438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整理供醫師審閱的初步摘要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94" name=""/>
          <p:cNvSpPr/>
          <p:nvPr/>
        </p:nvSpPr>
        <p:spPr>
          <a:xfrm>
            <a:off x="6534000" y="3600000"/>
            <a:ext cx="64800" cy="64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95" name=""/>
          <p:cNvSpPr txBox="1"/>
          <p:nvPr/>
        </p:nvSpPr>
        <p:spPr>
          <a:xfrm>
            <a:off x="6663600" y="3517200"/>
            <a:ext cx="438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保存醫師確認後實際送出的內容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659200" y="2646000"/>
            <a:ext cx="55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2800" spc="-1" strike="noStrike">
                <a:solidFill>
                  <a:srgbClr val="349e81"/>
                </a:solidFill>
                <a:latin typeface="Microsoft YaHei"/>
              </a:rPr>
              <a:t>＋</a:t>
            </a:r>
            <a:endParaRPr b="1" lang="en-US" sz="28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97" name=""/>
          <p:cNvSpPr/>
          <p:nvPr/>
        </p:nvSpPr>
        <p:spPr>
          <a:xfrm>
            <a:off x="1548000" y="5238000"/>
            <a:ext cx="9000000" cy="468000"/>
          </a:xfrm>
          <a:prstGeom prst="round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298" name=""/>
          <p:cNvSpPr txBox="1"/>
          <p:nvPr/>
        </p:nvSpPr>
        <p:spPr>
          <a:xfrm>
            <a:off x="1674000" y="5335200"/>
            <a:ext cx="874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350" spc="-1" strike="noStrike">
                <a:solidFill>
                  <a:srgbClr val="ffffff"/>
                </a:solidFill>
                <a:latin typeface="Microsoft YaHei"/>
              </a:rPr>
              <a:t>兩邊共同確保：從報到到回存，都是同一位病人、同一次問診、同一份內容</a:t>
            </a:r>
            <a:endParaRPr b="1" lang="en-US" sz="13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FROM CHECK-IN TO MEDICAL RECORD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完整使用情境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01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302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08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03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05" name=""/>
          <p:cNvSpPr/>
          <p:nvPr/>
        </p:nvSpPr>
        <p:spPr>
          <a:xfrm>
            <a:off x="1134000" y="2610000"/>
            <a:ext cx="9630000" cy="0"/>
          </a:xfrm>
          <a:prstGeom prst="line">
            <a:avLst/>
          </a:prstGeom>
          <a:ln w="28800">
            <a:solidFill>
              <a:srgbClr val="349e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"/>
          <p:cNvSpPr/>
          <p:nvPr/>
        </p:nvSpPr>
        <p:spPr>
          <a:xfrm>
            <a:off x="1144800" y="2383200"/>
            <a:ext cx="453600" cy="4536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07" name=""/>
          <p:cNvSpPr/>
          <p:nvPr/>
        </p:nvSpPr>
        <p:spPr>
          <a:xfrm>
            <a:off x="450000" y="1324800"/>
            <a:ext cx="2034000" cy="105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08" name=""/>
          <p:cNvSpPr txBox="1"/>
          <p:nvPr/>
        </p:nvSpPr>
        <p:spPr>
          <a:xfrm>
            <a:off x="558000" y="1468800"/>
            <a:ext cx="181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醫師選病人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76000" y="1814400"/>
            <a:ext cx="178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產生報到 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QR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10" name=""/>
          <p:cNvSpPr/>
          <p:nvPr/>
        </p:nvSpPr>
        <p:spPr>
          <a:xfrm>
            <a:off x="1371600" y="2376000"/>
            <a:ext cx="0" cy="7200"/>
          </a:xfrm>
          <a:prstGeom prst="line">
            <a:avLst/>
          </a:prstGeom>
          <a:ln w="12600">
            <a:solidFill>
              <a:srgbClr val="4ab5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"/>
          <p:cNvSpPr/>
          <p:nvPr/>
        </p:nvSpPr>
        <p:spPr>
          <a:xfrm>
            <a:off x="3412800" y="2383200"/>
            <a:ext cx="453600" cy="4536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12" name=""/>
          <p:cNvSpPr/>
          <p:nvPr/>
        </p:nvSpPr>
        <p:spPr>
          <a:xfrm>
            <a:off x="2718000" y="3078000"/>
            <a:ext cx="2034000" cy="105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13" name=""/>
          <p:cNvSpPr txBox="1"/>
          <p:nvPr/>
        </p:nvSpPr>
        <p:spPr>
          <a:xfrm>
            <a:off x="2826000" y="3222000"/>
            <a:ext cx="181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病患掃碼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2844000" y="3567600"/>
            <a:ext cx="178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確認後進入問診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15" name=""/>
          <p:cNvSpPr/>
          <p:nvPr/>
        </p:nvSpPr>
        <p:spPr>
          <a:xfrm>
            <a:off x="3639600" y="2836800"/>
            <a:ext cx="0" cy="241200"/>
          </a:xfrm>
          <a:prstGeom prst="line">
            <a:avLst/>
          </a:prstGeom>
          <a:ln w="12600">
            <a:solidFill>
              <a:srgbClr val="349e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"/>
          <p:cNvSpPr/>
          <p:nvPr/>
        </p:nvSpPr>
        <p:spPr>
          <a:xfrm>
            <a:off x="5680800" y="2383200"/>
            <a:ext cx="453600" cy="4536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17" name=""/>
          <p:cNvSpPr/>
          <p:nvPr/>
        </p:nvSpPr>
        <p:spPr>
          <a:xfrm>
            <a:off x="4986000" y="1324800"/>
            <a:ext cx="2034000" cy="105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18" name=""/>
          <p:cNvSpPr txBox="1"/>
          <p:nvPr/>
        </p:nvSpPr>
        <p:spPr>
          <a:xfrm>
            <a:off x="5094000" y="1468800"/>
            <a:ext cx="181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病患完成問卷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112000" y="1814400"/>
            <a:ext cx="178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多種方式回答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20" name=""/>
          <p:cNvSpPr/>
          <p:nvPr/>
        </p:nvSpPr>
        <p:spPr>
          <a:xfrm>
            <a:off x="5907600" y="2376000"/>
            <a:ext cx="0" cy="7200"/>
          </a:xfrm>
          <a:prstGeom prst="line">
            <a:avLst/>
          </a:prstGeom>
          <a:ln w="12600">
            <a:solidFill>
              <a:srgbClr val="2ca8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"/>
          <p:cNvSpPr/>
          <p:nvPr/>
        </p:nvSpPr>
        <p:spPr>
          <a:xfrm>
            <a:off x="7948800" y="2383200"/>
            <a:ext cx="453600" cy="4536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22" name=""/>
          <p:cNvSpPr/>
          <p:nvPr/>
        </p:nvSpPr>
        <p:spPr>
          <a:xfrm>
            <a:off x="7254000" y="3078000"/>
            <a:ext cx="2034000" cy="105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23" name=""/>
          <p:cNvSpPr txBox="1"/>
          <p:nvPr/>
        </p:nvSpPr>
        <p:spPr>
          <a:xfrm>
            <a:off x="7362000" y="3222000"/>
            <a:ext cx="181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系統整理摘要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380000" y="3567600"/>
            <a:ext cx="178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整理成可讀草稿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25" name=""/>
          <p:cNvSpPr/>
          <p:nvPr/>
        </p:nvSpPr>
        <p:spPr>
          <a:xfrm>
            <a:off x="8175600" y="2836800"/>
            <a:ext cx="0" cy="241200"/>
          </a:xfrm>
          <a:prstGeom prst="line">
            <a:avLst/>
          </a:prstGeom>
          <a:ln w="12600">
            <a:solidFill>
              <a:srgbClr val="349e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"/>
          <p:cNvSpPr/>
          <p:nvPr/>
        </p:nvSpPr>
        <p:spPr>
          <a:xfrm>
            <a:off x="10216800" y="2383200"/>
            <a:ext cx="453600" cy="453600"/>
          </a:xfrm>
          <a:prstGeom prst="ellipse">
            <a:avLst/>
          </a:prstGeom>
          <a:solidFill>
            <a:srgbClr val="84d03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5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27" name=""/>
          <p:cNvSpPr/>
          <p:nvPr/>
        </p:nvSpPr>
        <p:spPr>
          <a:xfrm>
            <a:off x="9522000" y="1324800"/>
            <a:ext cx="2034000" cy="1051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28" name=""/>
          <p:cNvSpPr txBox="1"/>
          <p:nvPr/>
        </p:nvSpPr>
        <p:spPr>
          <a:xfrm>
            <a:off x="9630000" y="1468800"/>
            <a:ext cx="181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醫師確認送出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9648000" y="1814400"/>
            <a:ext cx="178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核對後送回病歷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30" name=""/>
          <p:cNvSpPr/>
          <p:nvPr/>
        </p:nvSpPr>
        <p:spPr>
          <a:xfrm>
            <a:off x="10443600" y="2376000"/>
            <a:ext cx="0" cy="7200"/>
          </a:xfrm>
          <a:prstGeom prst="line">
            <a:avLst/>
          </a:prstGeom>
          <a:ln w="12600">
            <a:solidFill>
              <a:srgbClr val="84d03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"/>
          <p:cNvSpPr/>
          <p:nvPr/>
        </p:nvSpPr>
        <p:spPr>
          <a:xfrm>
            <a:off x="1152000" y="4726800"/>
            <a:ext cx="9828000" cy="8460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332" name=""/>
          <p:cNvSpPr txBox="1"/>
          <p:nvPr/>
        </p:nvSpPr>
        <p:spPr>
          <a:xfrm>
            <a:off x="1350000" y="4870800"/>
            <a:ext cx="21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600" spc="-1" strike="noStrike">
                <a:solidFill>
                  <a:srgbClr val="0a336b"/>
                </a:solidFill>
                <a:latin typeface="Microsoft YaHei"/>
              </a:rPr>
              <a:t>完成的核心成果</a:t>
            </a:r>
            <a:endParaRPr b="1" lang="en-US" sz="16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330000" y="4842000"/>
            <a:ext cx="736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50" spc="-1" strike="noStrike">
                <a:solidFill>
                  <a:srgbClr val="263a4d"/>
                </a:solidFill>
                <a:latin typeface="Microsoft YaHei"/>
              </a:rPr>
              <a:t>病人資料、問卷答案、醫師確認摘要，可以沿著同一個流程接續處理。</a:t>
            </a:r>
            <a:endParaRPr b="0" lang="en-US" sz="145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WHAT HAS CHANGED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本期成果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36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337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09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38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40" name=""/>
          <p:cNvSpPr/>
          <p:nvPr/>
        </p:nvSpPr>
        <p:spPr>
          <a:xfrm>
            <a:off x="450000" y="1350000"/>
            <a:ext cx="3492000" cy="289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41" name=""/>
          <p:cNvSpPr/>
          <p:nvPr/>
        </p:nvSpPr>
        <p:spPr>
          <a:xfrm>
            <a:off x="1872000" y="1576800"/>
            <a:ext cx="630000" cy="6300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Microsoft YaHei"/>
              </a:rPr>
              <a:t>✓</a:t>
            </a:r>
            <a:endParaRPr b="1" lang="en-US" sz="2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648000" y="23760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2000" spc="-1" strike="noStrike">
                <a:solidFill>
                  <a:srgbClr val="0a336b"/>
                </a:solidFill>
                <a:latin typeface="Microsoft YaHei"/>
              </a:rPr>
              <a:t>報到更快</a:t>
            </a:r>
            <a:endParaRPr b="1" lang="en-US" sz="20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702000" y="2862000"/>
            <a:ext cx="2988000" cy="795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en-US" sz="1420" spc="-1" strike="noStrike">
                <a:solidFill>
                  <a:srgbClr val="263a4d"/>
                </a:solidFill>
                <a:latin typeface="Microsoft YaHei"/>
              </a:rPr>
              <a:t>QR Code </a:t>
            </a:r>
            <a:r>
              <a:rPr b="0" lang="zh-CN" sz="1420" spc="-1" strike="noStrike">
                <a:solidFill>
                  <a:srgbClr val="263a4d"/>
                </a:solidFill>
                <a:latin typeface="Microsoft YaHei"/>
              </a:rPr>
              <a:t>取代手動尋找與輸入，病患也保留貼碼方式。</a:t>
            </a:r>
            <a:endParaRPr b="0" lang="en-US" sz="14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44" name=""/>
          <p:cNvSpPr/>
          <p:nvPr/>
        </p:nvSpPr>
        <p:spPr>
          <a:xfrm>
            <a:off x="4194000" y="1350000"/>
            <a:ext cx="3492000" cy="289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45" name=""/>
          <p:cNvSpPr/>
          <p:nvPr/>
        </p:nvSpPr>
        <p:spPr>
          <a:xfrm>
            <a:off x="5616000" y="1576800"/>
            <a:ext cx="630000" cy="6300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Microsoft YaHei"/>
              </a:rPr>
              <a:t>✓</a:t>
            </a:r>
            <a:endParaRPr b="1" lang="en-US" sz="2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392000" y="23760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2000" spc="-1" strike="noStrike">
                <a:solidFill>
                  <a:srgbClr val="0a336b"/>
                </a:solidFill>
                <a:latin typeface="Microsoft YaHei"/>
              </a:rPr>
              <a:t>問診更順</a:t>
            </a:r>
            <a:endParaRPr b="1" lang="en-US" sz="20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4446000" y="2862000"/>
            <a:ext cx="2988000" cy="10504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420" spc="-1" strike="noStrike">
                <a:solidFill>
                  <a:srgbClr val="263a4d"/>
                </a:solidFill>
                <a:latin typeface="Microsoft YaHei"/>
              </a:rPr>
              <a:t>既有資料可先帶入，病患可使用文字、語音與疼痛位置圖。</a:t>
            </a:r>
            <a:endParaRPr b="0" lang="en-US" sz="14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48" name=""/>
          <p:cNvSpPr/>
          <p:nvPr/>
        </p:nvSpPr>
        <p:spPr>
          <a:xfrm>
            <a:off x="7938000" y="1350000"/>
            <a:ext cx="3492000" cy="289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49" name=""/>
          <p:cNvSpPr/>
          <p:nvPr/>
        </p:nvSpPr>
        <p:spPr>
          <a:xfrm>
            <a:off x="9360000" y="1576800"/>
            <a:ext cx="630000" cy="6300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Microsoft YaHei"/>
              </a:rPr>
              <a:t>✓</a:t>
            </a:r>
            <a:endParaRPr b="1" lang="en-US" sz="2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8136000" y="23760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2000" spc="-1" strike="noStrike">
                <a:solidFill>
                  <a:srgbClr val="0a336b"/>
                </a:solidFill>
                <a:latin typeface="Microsoft YaHei"/>
              </a:rPr>
              <a:t>審閱更安心</a:t>
            </a:r>
            <a:endParaRPr b="1" lang="en-US" sz="20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8190000" y="2862000"/>
            <a:ext cx="2988000" cy="10504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420" spc="-1" strike="noStrike">
                <a:solidFill>
                  <a:srgbClr val="263a4d"/>
                </a:solidFill>
                <a:latin typeface="Microsoft YaHei"/>
              </a:rPr>
              <a:t>醫師可修改、逐段確認、最後核對，再把內容送回病歷。</a:t>
            </a:r>
            <a:endParaRPr b="0" lang="en-US" sz="14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52" name=""/>
          <p:cNvSpPr/>
          <p:nvPr/>
        </p:nvSpPr>
        <p:spPr>
          <a:xfrm>
            <a:off x="450000" y="4554000"/>
            <a:ext cx="10980000" cy="11700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353" name=""/>
          <p:cNvSpPr txBox="1"/>
          <p:nvPr/>
        </p:nvSpPr>
        <p:spPr>
          <a:xfrm>
            <a:off x="666000" y="4723200"/>
            <a:ext cx="158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650" spc="-1" strike="noStrike">
                <a:solidFill>
                  <a:srgbClr val="0a336b"/>
                </a:solidFill>
                <a:latin typeface="Microsoft YaHei"/>
              </a:rPr>
              <a:t>目前進度</a:t>
            </a:r>
            <a:endParaRPr b="1" lang="en-US" sz="16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2034000" y="4694400"/>
            <a:ext cx="9072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50" spc="-1" strike="noStrike">
                <a:solidFill>
                  <a:srgbClr val="263a4d"/>
                </a:solidFill>
                <a:latin typeface="Microsoft YaHei"/>
              </a:rPr>
              <a:t>已完成開發版流程，並以模擬資料驗證。現階段仍是研究與開發原型，內容須由醫師審閱。</a:t>
            </a:r>
            <a:endParaRPr b="0" lang="en-US" sz="145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object 2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22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6" name="object 3" descr=""/>
          <p:cNvPicPr/>
          <p:nvPr/>
        </p:nvPicPr>
        <p:blipFill>
          <a:blip r:embed="rId1"/>
          <a:stretch/>
        </p:blipFill>
        <p:spPr>
          <a:xfrm>
            <a:off x="10918440" y="447120"/>
            <a:ext cx="722880" cy="722880"/>
          </a:xfrm>
          <a:prstGeom prst="rect">
            <a:avLst/>
          </a:prstGeom>
          <a:ln w="0">
            <a:noFill/>
          </a:ln>
        </p:spPr>
      </p:pic>
      <p:grpSp>
        <p:nvGrpSpPr>
          <p:cNvPr id="357" name="object 4"/>
          <p:cNvGrpSpPr/>
          <p:nvPr/>
        </p:nvGrpSpPr>
        <p:grpSpPr>
          <a:xfrm>
            <a:off x="0" y="3058920"/>
            <a:ext cx="12191400" cy="3798360"/>
            <a:chOff x="0" y="3058920"/>
            <a:chExt cx="12191400" cy="3798360"/>
          </a:xfrm>
        </p:grpSpPr>
        <p:pic>
          <p:nvPicPr>
            <p:cNvPr id="358" name="object 5" descr=""/>
            <p:cNvPicPr/>
            <p:nvPr/>
          </p:nvPicPr>
          <p:blipFill>
            <a:blip r:embed="rId2"/>
            <a:stretch/>
          </p:blipFill>
          <p:spPr>
            <a:xfrm>
              <a:off x="0" y="3429000"/>
              <a:ext cx="12191400" cy="3428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9" name="object 6"/>
            <p:cNvSpPr/>
            <p:nvPr/>
          </p:nvSpPr>
          <p:spPr>
            <a:xfrm>
              <a:off x="9197640" y="3429000"/>
              <a:ext cx="711360" cy="735120"/>
            </a:xfrm>
            <a:custGeom>
              <a:avLst/>
              <a:gdLst/>
              <a:ahLst/>
              <a:rect l="l" t="t" r="r" b="b"/>
              <a:pathLst>
                <a:path w="534034" h="551814">
                  <a:moveTo>
                    <a:pt x="533410" y="551195"/>
                  </a:moveTo>
                  <a:lnTo>
                    <a:pt x="0" y="551195"/>
                  </a:lnTo>
                  <a:lnTo>
                    <a:pt x="0" y="0"/>
                  </a:lnTo>
                  <a:lnTo>
                    <a:pt x="533410" y="0"/>
                  </a:lnTo>
                  <a:lnTo>
                    <a:pt x="533410" y="551195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object 7"/>
            <p:cNvSpPr/>
            <p:nvPr/>
          </p:nvSpPr>
          <p:spPr>
            <a:xfrm>
              <a:off x="1142640" y="3058920"/>
              <a:ext cx="377640" cy="376920"/>
            </a:xfrm>
            <a:custGeom>
              <a:avLst/>
              <a:gdLst/>
              <a:ahLst/>
              <a:rect l="l" t="t" r="r" b="b"/>
              <a:pathLst>
                <a:path w="283844" h="283210">
                  <a:moveTo>
                    <a:pt x="283503" y="282882"/>
                  </a:moveTo>
                  <a:lnTo>
                    <a:pt x="0" y="282882"/>
                  </a:lnTo>
                  <a:lnTo>
                    <a:pt x="0" y="0"/>
                  </a:lnTo>
                  <a:lnTo>
                    <a:pt x="283503" y="0"/>
                  </a:lnTo>
                  <a:lnTo>
                    <a:pt x="283503" y="282882"/>
                  </a:lnTo>
                  <a:close/>
                </a:path>
              </a:pathLst>
            </a:custGeom>
            <a:solidFill>
              <a:srgbClr val="def3b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object 8"/>
            <p:cNvSpPr/>
            <p:nvPr/>
          </p:nvSpPr>
          <p:spPr>
            <a:xfrm>
              <a:off x="9909000" y="3100680"/>
              <a:ext cx="1706040" cy="327960"/>
            </a:xfrm>
            <a:custGeom>
              <a:avLst/>
              <a:gdLst/>
              <a:ahLst/>
              <a:rect l="l" t="t" r="r" b="b"/>
              <a:pathLst>
                <a:path w="1280159" h="246380">
                  <a:moveTo>
                    <a:pt x="1279789" y="246320"/>
                  </a:moveTo>
                  <a:lnTo>
                    <a:pt x="0" y="246320"/>
                  </a:lnTo>
                  <a:lnTo>
                    <a:pt x="0" y="0"/>
                  </a:lnTo>
                  <a:lnTo>
                    <a:pt x="1279789" y="0"/>
                  </a:lnTo>
                  <a:lnTo>
                    <a:pt x="1279789" y="246320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2" name="object 9"/>
            <p:cNvSpPr/>
            <p:nvPr/>
          </p:nvSpPr>
          <p:spPr>
            <a:xfrm>
              <a:off x="0" y="3429000"/>
              <a:ext cx="856080" cy="854280"/>
            </a:xfrm>
            <a:custGeom>
              <a:avLst/>
              <a:gdLst/>
              <a:ahLst/>
              <a:rect l="l" t="t" r="r" b="b"/>
              <a:pathLst>
                <a:path w="642620" h="641350">
                  <a:moveTo>
                    <a:pt x="642359" y="640952"/>
                  </a:moveTo>
                  <a:lnTo>
                    <a:pt x="0" y="640952"/>
                  </a:lnTo>
                  <a:lnTo>
                    <a:pt x="0" y="0"/>
                  </a:lnTo>
                  <a:lnTo>
                    <a:pt x="642359" y="0"/>
                  </a:lnTo>
                  <a:lnTo>
                    <a:pt x="642359" y="640952"/>
                  </a:lnTo>
                  <a:close/>
                </a:path>
              </a:pathLst>
            </a:custGeom>
            <a:solidFill>
              <a:srgbClr val="054f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228480" y="1578240"/>
            <a:ext cx="7070760" cy="1161720"/>
          </a:xfrm>
          <a:prstGeom prst="rect">
            <a:avLst/>
          </a:prstGeom>
          <a:noFill/>
          <a:ln w="0">
            <a:noFill/>
          </a:ln>
        </p:spPr>
        <p:txBody>
          <a:bodyPr lIns="0" rIns="0" tIns="16920" bIns="0" anchor="t">
            <a:noAutofit/>
          </a:bodyPr>
          <a:p>
            <a:pPr marL="16920">
              <a:lnSpc>
                <a:spcPct val="100000"/>
              </a:lnSpc>
              <a:spcBef>
                <a:spcPts val="133"/>
              </a:spcBef>
              <a:buNone/>
              <a:tabLst>
                <a:tab algn="l" pos="0"/>
              </a:tabLst>
            </a:pPr>
            <a:r>
              <a:rPr b="1" lang="zh-CN" sz="4270" spc="-1" strike="noStrike">
                <a:solidFill>
                  <a:srgbClr val="ffffff"/>
                </a:solidFill>
                <a:latin typeface="Arial"/>
                <a:ea typeface="Arial"/>
              </a:rPr>
              <a:t>謝謝聆聽・敬請指教</a:t>
            </a:r>
            <a:endParaRPr b="1" lang="en-US" sz="4270" spc="-1" strike="noStrike">
              <a:latin typeface="Microsoft YaHei"/>
              <a:ea typeface="Microsoft YaHei"/>
            </a:endParaRPr>
          </a:p>
        </p:txBody>
      </p:sp>
      <p:grpSp>
        <p:nvGrpSpPr>
          <p:cNvPr id="364" name="object 11"/>
          <p:cNvGrpSpPr/>
          <p:nvPr/>
        </p:nvGrpSpPr>
        <p:grpSpPr>
          <a:xfrm>
            <a:off x="1585080" y="513360"/>
            <a:ext cx="1520640" cy="1607760"/>
            <a:chOff x="1585080" y="513360"/>
            <a:chExt cx="1520640" cy="1607760"/>
          </a:xfrm>
        </p:grpSpPr>
        <p:sp>
          <p:nvSpPr>
            <p:cNvPr id="365" name="object 12"/>
            <p:cNvSpPr/>
            <p:nvPr/>
          </p:nvSpPr>
          <p:spPr>
            <a:xfrm>
              <a:off x="1585080" y="1008360"/>
              <a:ext cx="1076400" cy="1112760"/>
            </a:xfrm>
            <a:custGeom>
              <a:avLst/>
              <a:gdLst/>
              <a:ahLst/>
              <a:rect l="l" t="t" r="r" b="b"/>
              <a:pathLst>
                <a:path w="807719" h="835025">
                  <a:moveTo>
                    <a:pt x="807556" y="834482"/>
                  </a:moveTo>
                  <a:lnTo>
                    <a:pt x="0" y="834482"/>
                  </a:lnTo>
                  <a:lnTo>
                    <a:pt x="0" y="0"/>
                  </a:lnTo>
                  <a:lnTo>
                    <a:pt x="807556" y="0"/>
                  </a:lnTo>
                  <a:lnTo>
                    <a:pt x="807556" y="834482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6" name="object 13"/>
            <p:cNvSpPr/>
            <p:nvPr/>
          </p:nvSpPr>
          <p:spPr>
            <a:xfrm>
              <a:off x="2636640" y="513360"/>
              <a:ext cx="469080" cy="485280"/>
            </a:xfrm>
            <a:custGeom>
              <a:avLst/>
              <a:gdLst/>
              <a:ahLst/>
              <a:rect l="l" t="t" r="r" b="b"/>
              <a:pathLst>
                <a:path w="352425" h="364490">
                  <a:moveTo>
                    <a:pt x="352232" y="363976"/>
                  </a:moveTo>
                  <a:lnTo>
                    <a:pt x="0" y="363976"/>
                  </a:lnTo>
                  <a:lnTo>
                    <a:pt x="0" y="0"/>
                  </a:lnTo>
                  <a:lnTo>
                    <a:pt x="352232" y="0"/>
                  </a:lnTo>
                  <a:lnTo>
                    <a:pt x="352232" y="363976"/>
                  </a:lnTo>
                  <a:close/>
                </a:path>
              </a:pathLst>
            </a:custGeom>
            <a:solidFill>
              <a:srgbClr val="fff9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67" name="object 14"/>
          <p:cNvSpPr/>
          <p:nvPr/>
        </p:nvSpPr>
        <p:spPr>
          <a:xfrm>
            <a:off x="8929800" y="0"/>
            <a:ext cx="1557000" cy="513360"/>
          </a:xfrm>
          <a:custGeom>
            <a:avLst/>
            <a:gdLst/>
            <a:ahLst/>
            <a:rect l="l" t="t" r="r" b="b"/>
            <a:pathLst>
              <a:path w="1168400" h="385445">
                <a:moveTo>
                  <a:pt x="1168381" y="384942"/>
                </a:moveTo>
                <a:lnTo>
                  <a:pt x="0" y="384942"/>
                </a:lnTo>
                <a:lnTo>
                  <a:pt x="0" y="0"/>
                </a:lnTo>
                <a:lnTo>
                  <a:pt x="1168381" y="0"/>
                </a:lnTo>
                <a:lnTo>
                  <a:pt x="1168381" y="384942"/>
                </a:lnTo>
                <a:close/>
              </a:path>
            </a:pathLst>
          </a:custGeom>
          <a:solidFill>
            <a:srgbClr val="054f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2022-12-14T08:54:03Z</dcterms:created>
  <dc:creator>張慈映</dc:creator>
  <dc:description/>
  <dc:language>zh-TW</dc:language>
  <cp:lastModifiedBy/>
  <dcterms:modified xsi:type="dcterms:W3CDTF">2026-09-01T01:27:34Z</dcterms:modified>
  <cp:revision>4</cp:revision>
  <dc:subject/>
  <dc:title>PowerPoint 簡報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24</vt:i4>
  </property>
</Properties>
</file>