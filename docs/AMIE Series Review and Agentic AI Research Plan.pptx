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49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PCP = Primary Care Physician (family medicine / general practitioner).
Self-play has four roles played by the same AMIE model with different instructions: (1) Patient agent — truthfully answers/raises concerns; (2) Doctor agent — drives history-taking; (3) Moderator agent — decides when the dialogue has naturally concluded; (4) Critic agent — knows the ground-truth diagnosis and gives feedback.
Inner loop: same case, repeated dialogue + refinement. Outer loop: refined dialogues feed into the next fine-tuning round.
Double-blind design: patient actors don't know if they're talking to AMIE or a real doctor; specialists scoring afterward don't know who produced which transcript.
32 axes (specialist-rated, clinical-expertise lens) = history-taking (PACES) + diagnostic accuracy + management reasoning + communication skills + empathy (GMCPQ/PCCBP).
26 axes (patient-actor-rated, patient-experience lens) = politeness, listening, explaining condition, involving patient in decisions, trust, satisfaction (willingness to return).
Caveat if pressed: AI text tends to be longer/more structured → blinding risk. “Longer replies raise satisfaction” is a plausible hypothesis, not something the paper directly tested — be upfront about that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NEJM CPC = New England Journal of Medicine Clinicopathological Conference case series. A recurring NEJM feature: each issue presents a real, difficult case worked up by a senior expert live — a benchmark widely regarded as genuinely hard even for physicians.
This paper's framing is “AI replaces physicians” (Paper 1) vs. “AI assists physicians” (Paper 2): Paper 1 pits AMIE head-to-head against PCPs; Paper 2 tests AMIE as a tool physicians use alongside them.
Two layers of comparison: (1) AMIE alone (59.1%) vs. unassisted physicians (33.6%); (2) AMIE-assisted physicians vs. search-engine-assisted physicians — AMIE-assisted scored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OSCE = Objective Structured Clinical Examination, the standardized clinical exam format used worldwide in medical schools and licensing exams (standardized patient actors + fixed scoring checklists). “Virtual OSCE” = the same format conducted over online text chat, not in person.
RxQA: 600 multiple-choice questions sourced from official US (OpenFDA) and UK (BNF) drug formularies, validated question-by-question by licensed pharmacists; covers indications, contraindications, dosing, side effects, and interactions. Tested open-book, closed-book, and across difficulty tiers — AMIE wins on the hardest questions in both open- and closed-book settings.
Dual-agent architecture: Dialogue Agent (conversation, System-1-like) + Mx Agent (deep reasoning / retrieves NICE, BMJ guidelines, System-2-like).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State-aware phase-transition framework vs. “just a long prompt”: it doesn't run off one fixed instruction end-to-end. The system explicitly maintains a “patient state” (history summary, working DDx, information gaps), continuously evaluates whether the current phase's goal is met, and only then triggers the next phase (history-taking → diagnosis &amp; management → follow-up) — a stateful control mechanism with real trigger conditions.
Robustness point: when image quality is poor or the AI hallucinates, AMIE's accuracy drop is smaller than PCPs' — useful if asked whether multimodal AI is more error-prone with poor-quality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Verbal addition: our goal is to build a “closed-loop” care system — data gathering, dynamic decision-making, physician confirmation, and outcome feedback forming a complete cycle, rather than a one-off diagnostic suggestion.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AMIE RESEARCH SERIES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Conversational Diagnostic AI to Clinical Agentic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of Google's four AMIE papers, and a research proposal for Agentic AI in Taiwan's healthcare setting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pic>
        <p:nvPicPr>
          <p:cNvPr id="6" name="Image 0" descr="/home/claude/ppt/icons/robot_amber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9966960" y="22860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6F8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/home/claude/ppt/icons/chartlin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7556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Motivation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86000" y="198424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stages of healthcare AI and their current limitations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6F8F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96312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pic>
        <p:nvPicPr>
          <p:cNvPr id="11" name="Image 1" descr="/home/claude/ppt/icons/boo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2542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AMIE Papers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286000" y="288036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dialogue diagnosis and differential-diagnosis assist to multimodal reasoning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92424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6F8FA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3392424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pic>
        <p:nvPicPr>
          <p:cNvPr id="16" name="Image 2" descr="/home/claude/ppt/icons/projec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54787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86000" y="34381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Evolution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286000" y="37764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thread across the four papers and the capability upgrade path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88536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6F8FA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288536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pic>
        <p:nvPicPr>
          <p:cNvPr id="21" name="Image 3" descr="/home/claude/ppt/icons/hospital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443984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86000" y="43342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Agentic AI Research Plan (Taiwan)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286000" y="46725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EHR integration, and a four-year timeline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84648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6F8FA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184648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pic>
        <p:nvPicPr>
          <p:cNvPr id="26" name="Image 4" descr="/home/claude/ppt/icons/bullsey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5340096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0" y="5230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&amp; Challenges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2286000" y="5568696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Deliverables, validation approach, and open questions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 of Healthcare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ppt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95681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One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Prediction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2186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+ machine learning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triage, chronic disease risk scoring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810512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2" name="Image 1" descr="/home/claude/ppt/icons/xra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95681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Two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0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Interpretation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72000" y="32186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+ CNNs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X-ray, CT, MRI, ECG, EEG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1810512"/>
            <a:ext cx="658368" cy="6583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8" name="Image 2" descr="/home/claude/ppt/icons/pe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195681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Three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321040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21040" y="32186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understanding &amp; generation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notes, order/prescription support, rare-disease diagnosis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3294B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97280" y="4645152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“Pattern-memorizing” AI can't truly reason — when data deviates even slightly from what it has seen (e.g. an atypical fracture pattern), accuracy drops sharply</a:t>
            </a:r>
            <a:endParaRPr lang="en-US" sz="1300" dirty="0"/>
          </a:p>
          <a:p>
            <a:pPr>
              <a:lnSpc>
                <a:spcPct val="115000"/>
              </a:lnSpc>
              <a:buSzPct val="100000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existing applications are “static, single time-point” — unlike clinicians, they cannot dynamically integrate imaging, labs, and history across a timeline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SERIES — PAPER 1 OF 4</a:t>
            </a:r>
            <a:endParaRPr lang="en-US" sz="1200" dirty="0"/>
          </a:p>
        </p:txBody>
      </p:sp>
      <p:pic>
        <p:nvPicPr>
          <p:cNvPr id="3" name="Image 0" descr="/home/claude/ppt/icons/comment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conversational diagnostic artificial intelligence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et al. | Nature | 2025</a:t>
            </a:r>
            <a:endParaRPr lang="en-US" sz="1200" dirty="0"/>
          </a:p>
        </p:txBody>
      </p:sp>
      <p:sp>
        <p:nvSpPr>
          <p:cNvPr id="6" name="Text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87" y="206808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13564" y="2212234"/>
            <a:ext cx="61161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AMIE, a conversational diagnostic AI trained in a </a:t>
            </a: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self-play simulated environment</a:t>
            </a:r>
            <a:endParaRPr lang="en-US" sz="1350" b="1" dirty="0"/>
          </a:p>
          <a:p>
            <a:pPr>
              <a:lnSpc>
                <a:spcPct val="125000"/>
              </a:lnSpc>
              <a:spcAft>
                <a:spcPts val="1000"/>
              </a:spcAft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Exhibits physician-like history-taking: proactively asks follow-up questions to form a differential diagnosis</a:t>
            </a:r>
            <a:endParaRPr lang="en-US" sz="1350" b="1" dirty="0"/>
          </a:p>
          <a:p>
            <a:pPr>
              <a:lnSpc>
                <a:spcPct val="125000"/>
              </a:lnSpc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Randomized, double-blind crossover study: AMIE vs. 20 primary care physicians (PCPs), with patient actors across Canada, the UK, and India</a:t>
            </a:r>
            <a:endParaRPr lang="en-US" sz="1350" b="1" dirty="0"/>
          </a:p>
        </p:txBody>
      </p:sp>
      <p:sp>
        <p:nvSpPr>
          <p:cNvPr id="8" name="Text 5"/>
          <p:cNvSpPr/>
          <p:nvPr/>
        </p:nvSpPr>
        <p:spPr>
          <a:xfrm>
            <a:off x="731520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 (159 simulated cases)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0" y="2103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2194560"/>
            <a:ext cx="1691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30/32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452360" y="3044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specialist-rated axes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favored AMIE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72600" y="2103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509760" y="2194560"/>
            <a:ext cx="1691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25/26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509760" y="3044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patient-actor axes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favored AMIE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0" y="36576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384048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differential diagnosis accuracy was also significantly higher than PCPs — establishing a feasibility baseline for conversational diagnostic AI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2A5C864F-DF51-C0BD-E7F9-32A223F10308}"/>
              </a:ext>
            </a:extLst>
          </p:cNvPr>
          <p:cNvSpPr/>
          <p:nvPr/>
        </p:nvSpPr>
        <p:spPr>
          <a:xfrm>
            <a:off x="618187" y="2342409"/>
            <a:ext cx="136515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75BF922A-131C-8A9F-36EB-DEDF8C25965E}"/>
              </a:ext>
            </a:extLst>
          </p:cNvPr>
          <p:cNvGrpSpPr/>
          <p:nvPr/>
        </p:nvGrpSpPr>
        <p:grpSpPr>
          <a:xfrm>
            <a:off x="914400" y="2968580"/>
            <a:ext cx="354169" cy="328412"/>
            <a:chOff x="914400" y="2968580"/>
            <a:chExt cx="354169" cy="328412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6A22C86F-5699-0E8A-21A9-6B66B055891D}"/>
                </a:ext>
              </a:extLst>
            </p:cNvPr>
            <p:cNvCxnSpPr/>
            <p:nvPr/>
          </p:nvCxnSpPr>
          <p:spPr>
            <a:xfrm>
              <a:off x="1013564" y="2968580"/>
              <a:ext cx="0" cy="3284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A5519E71-BE9F-3E9E-E9FB-5768BC060387}"/>
                </a:ext>
              </a:extLst>
            </p:cNvPr>
            <p:cNvCxnSpPr/>
            <p:nvPr/>
          </p:nvCxnSpPr>
          <p:spPr>
            <a:xfrm>
              <a:off x="914400" y="3219718"/>
              <a:ext cx="3541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SERIES — PAPER 2 OF 4</a:t>
            </a:r>
            <a:endParaRPr lang="en-US" sz="1200" dirty="0"/>
          </a:p>
        </p:txBody>
      </p:sp>
      <p:pic>
        <p:nvPicPr>
          <p:cNvPr id="3" name="Image 0" descr="/home/claude/ppt/icons/boo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accurate differential diagnosis with large language models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McDuff et al. | Nature | 2025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564" y="2406670"/>
            <a:ext cx="6051783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spcAft>
                <a:spcPts val="1000"/>
              </a:spcAft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AMIE not as a replacement for physicians, but as a diagnostic assistance tool that helps generate a differential diagnosis (DDx) list</a:t>
            </a:r>
            <a:endParaRPr lang="en-US" sz="1350" b="1" dirty="0"/>
          </a:p>
          <a:p>
            <a:pPr>
              <a:lnSpc>
                <a:spcPct val="125000"/>
              </a:lnSpc>
              <a:spcAft>
                <a:spcPts val="1000"/>
              </a:spcAft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302 NEJM Clinicopathological Conference (CPC) cases — complex, real cases that even physicians find challenging. 20 physicians were split into two groups: search-engine-assisted vs. AMIE-assisted</a:t>
            </a:r>
            <a:endParaRPr lang="en-US" sz="1350" b="1" dirty="0"/>
          </a:p>
          <a:p>
            <a:pPr>
              <a:lnSpc>
                <a:spcPct val="125000"/>
              </a:lnSpc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that generative AI doesn't just answer well on its own — it </a:t>
            </a: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meaningfully amplifies physicians' diagnostic ability</a:t>
            </a:r>
            <a:endParaRPr lang="en-US" sz="1350" b="1" dirty="0"/>
          </a:p>
        </p:txBody>
      </p:sp>
      <p:sp>
        <p:nvSpPr>
          <p:cNvPr id="8" name="Text 5"/>
          <p:cNvSpPr/>
          <p:nvPr/>
        </p:nvSpPr>
        <p:spPr>
          <a:xfrm>
            <a:off x="7315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Results: Top-10 Diagnostic Accuracy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0" y="2103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2194560"/>
            <a:ext cx="1691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59.1%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452360" y="3044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alone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72600" y="2103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509760" y="2194560"/>
            <a:ext cx="1691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509760" y="3044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unassisted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0" y="36576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384048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Physicians assisted by AMIE also outperformed those assisted by a search engine — AI assistance beats traditional information retrieval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AB837C0-52F5-3278-C13B-36744C06F053}"/>
              </a:ext>
            </a:extLst>
          </p:cNvPr>
          <p:cNvSpPr/>
          <p:nvPr/>
        </p:nvSpPr>
        <p:spPr>
          <a:xfrm>
            <a:off x="618187" y="206808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</a:t>
            </a:r>
            <a:endParaRPr lang="en-US" sz="13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774D16DE-CC03-98B5-8B31-795F8E1CA2B4}"/>
              </a:ext>
            </a:extLst>
          </p:cNvPr>
          <p:cNvSpPr/>
          <p:nvPr/>
        </p:nvSpPr>
        <p:spPr>
          <a:xfrm>
            <a:off x="618187" y="2342409"/>
            <a:ext cx="136515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9404EE1A-77BF-BB1E-7A58-FFA72CAAD80D}"/>
              </a:ext>
            </a:extLst>
          </p:cNvPr>
          <p:cNvGrpSpPr/>
          <p:nvPr/>
        </p:nvGrpSpPr>
        <p:grpSpPr>
          <a:xfrm>
            <a:off x="914400" y="2968580"/>
            <a:ext cx="354169" cy="328412"/>
            <a:chOff x="914400" y="2968580"/>
            <a:chExt cx="354169" cy="328412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4C5DD2DE-4F5F-4A9B-D302-A26027C4C98F}"/>
                </a:ext>
              </a:extLst>
            </p:cNvPr>
            <p:cNvCxnSpPr/>
            <p:nvPr/>
          </p:nvCxnSpPr>
          <p:spPr>
            <a:xfrm>
              <a:off x="1013564" y="2968580"/>
              <a:ext cx="0" cy="3284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8A3B84FF-2D22-1C02-0D3F-E978DDAD8C4B}"/>
                </a:ext>
              </a:extLst>
            </p:cNvPr>
            <p:cNvCxnSpPr/>
            <p:nvPr/>
          </p:nvCxnSpPr>
          <p:spPr>
            <a:xfrm>
              <a:off x="914400" y="3219718"/>
              <a:ext cx="3541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SERIES — PAPER 3 OF 4</a:t>
            </a:r>
            <a:endParaRPr lang="en-US" sz="1200" dirty="0"/>
          </a:p>
        </p:txBody>
      </p:sp>
      <p:pic>
        <p:nvPicPr>
          <p:cNvPr id="3" name="Image 0" descr="/home/claude/ppt/icons/sync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Conversational AI for Disease Management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Liévin et al. | Nature | 2026 (Accelerated Article Preview)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564" y="2422525"/>
            <a:ext cx="580064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AMIE from single-visit “diagnosis” to “</a:t>
            </a: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management reasoning</a:t>
            </a: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”: multiple follow-up visits, treatment-response tracking, medication safety</a:t>
            </a:r>
            <a:endParaRPr lang="en-US" sz="1350" b="1" dirty="0"/>
          </a:p>
          <a:p>
            <a:pPr>
              <a:lnSpc>
                <a:spcPct val="125000"/>
              </a:lnSpc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dual-agent architecture</a:t>
            </a: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Dialogue Agent (conversation, akin to System 1) + the Mx Agent (deep reasoning, retrieving NICE / BMJ guidelines, akin to System 2)</a:t>
            </a:r>
            <a:endParaRPr lang="en-US" sz="1350" b="1" dirty="0"/>
          </a:p>
          <a:p>
            <a:pPr>
              <a:lnSpc>
                <a:spcPct val="125000"/>
              </a:lnSpc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virtual OSCE study: AMIE vs. 21 PCPs, 100 scenarios spanning 3 follow-up visits across 5 specialties</a:t>
            </a:r>
            <a:endParaRPr lang="en-US" sz="1350" b="1" dirty="0"/>
          </a:p>
        </p:txBody>
      </p:sp>
      <p:sp>
        <p:nvSpPr>
          <p:cNvPr id="8" name="Text 5"/>
          <p:cNvSpPr/>
          <p:nvPr/>
        </p:nvSpPr>
        <p:spPr>
          <a:xfrm>
            <a:off x="7315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0" y="2103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2194560"/>
            <a:ext cx="1691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452360" y="3044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 where PCPs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outperformed AMIE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72600" y="2103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509760" y="2194560"/>
            <a:ext cx="1691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509760" y="3044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RxQA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medication-reasoning benchmark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0" y="36576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384048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management-plan appropriateness, treatment/testing precision, and guideline alignment were all significantly better than PCPs; AMIE also won on the hardest medication questions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6A0D9AC-9AA0-9535-655A-526B238B4DC0}"/>
              </a:ext>
            </a:extLst>
          </p:cNvPr>
          <p:cNvSpPr/>
          <p:nvPr/>
        </p:nvSpPr>
        <p:spPr>
          <a:xfrm>
            <a:off x="618187" y="206808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</a:t>
            </a:r>
            <a:endParaRPr lang="en-US" sz="13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42D1B34E-61C4-7262-4EA4-29D58903572F}"/>
              </a:ext>
            </a:extLst>
          </p:cNvPr>
          <p:cNvSpPr/>
          <p:nvPr/>
        </p:nvSpPr>
        <p:spPr>
          <a:xfrm>
            <a:off x="618187" y="2342409"/>
            <a:ext cx="136515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4D0E5E4C-6CD0-270E-D322-0A1BA2744F23}"/>
              </a:ext>
            </a:extLst>
          </p:cNvPr>
          <p:cNvGrpSpPr/>
          <p:nvPr/>
        </p:nvGrpSpPr>
        <p:grpSpPr>
          <a:xfrm>
            <a:off x="914400" y="2968580"/>
            <a:ext cx="354169" cy="328412"/>
            <a:chOff x="914400" y="2968580"/>
            <a:chExt cx="354169" cy="328412"/>
          </a:xfrm>
        </p:grpSpPr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C63A3E4D-2BF7-6E68-3FE1-EF0DAEF36A26}"/>
                </a:ext>
              </a:extLst>
            </p:cNvPr>
            <p:cNvCxnSpPr/>
            <p:nvPr/>
          </p:nvCxnSpPr>
          <p:spPr>
            <a:xfrm>
              <a:off x="1013564" y="2968580"/>
              <a:ext cx="0" cy="3284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37378C56-D3E0-3BCE-6795-B376FF22754E}"/>
                </a:ext>
              </a:extLst>
            </p:cNvPr>
            <p:cNvCxnSpPr/>
            <p:nvPr/>
          </p:nvCxnSpPr>
          <p:spPr>
            <a:xfrm>
              <a:off x="914400" y="3219718"/>
              <a:ext cx="3541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SERIES — PAPER 4 OF 4</a:t>
            </a:r>
            <a:endParaRPr lang="en-US" sz="1200" dirty="0"/>
          </a:p>
        </p:txBody>
      </p:sp>
      <p:pic>
        <p:nvPicPr>
          <p:cNvPr id="3" name="Image 0" descr="/home/claude/ppt/icons/projec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Advancing conversational diagnostic AI with multimodal reasoning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Saab et al. | Nature Medicine |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564" y="2382871"/>
            <a:ext cx="618744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spcAft>
                <a:spcPts val="1000"/>
              </a:spcAft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multimodal AMIE: proactively requests, interprets, and integrates skin photos, ECGs, and clinical documents mid-conversation</a:t>
            </a:r>
            <a:endParaRPr lang="en-US" sz="1350" b="1" dirty="0"/>
          </a:p>
          <a:p>
            <a:pPr>
              <a:lnSpc>
                <a:spcPct val="125000"/>
              </a:lnSpc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state-aware dialogue-phase-transition framework</a:t>
            </a: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dynamically decides between history-taking → diagnosis &amp; management → answering follow-ups, based on internal patient state and diagnostic uncertainty</a:t>
            </a:r>
            <a:endParaRPr lang="en-US" sz="1350" b="1" dirty="0"/>
          </a:p>
          <a:p>
            <a:pPr>
              <a:lnSpc>
                <a:spcPct val="125000"/>
              </a:lnSpc>
              <a:buSzPct val="100000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OSCE study: AMIE vs. 19 PCPs, 105 remote-care scenarios, rated by 18 specialist physicians</a:t>
            </a:r>
            <a:endParaRPr lang="en-US" sz="1350" b="1" dirty="0"/>
          </a:p>
        </p:txBody>
      </p:sp>
      <p:sp>
        <p:nvSpPr>
          <p:cNvPr id="8" name="Text 5"/>
          <p:cNvSpPr/>
          <p:nvPr/>
        </p:nvSpPr>
        <p:spPr>
          <a:xfrm>
            <a:off x="7315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0" y="2103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2194560"/>
            <a:ext cx="1691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29/32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452360" y="3044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 favored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tied with AMIE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72600" y="21031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509760" y="2194560"/>
            <a:ext cx="1691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7/9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509760" y="3044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reasoning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 favored AMIE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0" y="36576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384048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image quality was poor or AI misread an artifact, AMIE's accuracy dropped far less than PCPs' — showing greater robustness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4D01CE6-A568-9CBC-C75B-4A319E3F9D13}"/>
              </a:ext>
            </a:extLst>
          </p:cNvPr>
          <p:cNvSpPr/>
          <p:nvPr/>
        </p:nvSpPr>
        <p:spPr>
          <a:xfrm>
            <a:off x="618187" y="206808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</a:t>
            </a:r>
            <a:endParaRPr lang="en-US" sz="13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636D44DB-FC69-0D27-6556-7D8F47D66092}"/>
              </a:ext>
            </a:extLst>
          </p:cNvPr>
          <p:cNvSpPr/>
          <p:nvPr/>
        </p:nvSpPr>
        <p:spPr>
          <a:xfrm>
            <a:off x="618187" y="2342409"/>
            <a:ext cx="136515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A4B7E543-D2D8-EBE7-69FC-AF826508FDE8}"/>
              </a:ext>
            </a:extLst>
          </p:cNvPr>
          <p:cNvGrpSpPr/>
          <p:nvPr/>
        </p:nvGrpSpPr>
        <p:grpSpPr>
          <a:xfrm>
            <a:off x="914400" y="2968580"/>
            <a:ext cx="354169" cy="328412"/>
            <a:chOff x="914400" y="2968580"/>
            <a:chExt cx="354169" cy="328412"/>
          </a:xfrm>
        </p:grpSpPr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ADAC851C-C5C8-A774-4C14-0E28838123FF}"/>
                </a:ext>
              </a:extLst>
            </p:cNvPr>
            <p:cNvCxnSpPr/>
            <p:nvPr/>
          </p:nvCxnSpPr>
          <p:spPr>
            <a:xfrm>
              <a:off x="1013564" y="2968580"/>
              <a:ext cx="0" cy="3284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E7128609-B037-15B1-541A-F17BB572C249}"/>
                </a:ext>
              </a:extLst>
            </p:cNvPr>
            <p:cNvCxnSpPr/>
            <p:nvPr/>
          </p:nvCxnSpPr>
          <p:spPr>
            <a:xfrm>
              <a:off x="914400" y="3219718"/>
              <a:ext cx="3541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Papers at a Glance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18795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Dialogue Diagnosis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Self-play trained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diagnostic dialogue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vs. 20 PCPs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 cases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30/32 axes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favored AMIE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DDx Assistance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Assists physicians 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a DDx list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 NEJM cases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physicians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Top-10 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59.1% vs 33.6%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Disease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 agents: dialogue 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management reasoning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vs. 21 PCPs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scenarios × 3 visits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axes where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PCPs won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④ Multimodal Reasoning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State-aware reasoning over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 / ECGs / documents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vs. 19 PCPs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 remote scenarios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29/32 axes favored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 tied with AMIE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escalates steadily across the four papers — dialogue → assisted reasoning → dynamic management → multimodal integration — but all remain “</a:t>
            </a:r>
            <a:r>
              <a:rPr lang="en-US" sz="1150" b="1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single-encounter</a:t>
            </a:r>
            <a:r>
              <a:rPr lang="en-US" sz="11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evaluations, not yet addressing </a:t>
            </a:r>
            <a:r>
              <a:rPr lang="en-US" sz="1150" b="1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long-term, longitudinal tracking</a:t>
            </a:r>
            <a:r>
              <a:rPr lang="en-US" sz="11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r>
              <a:rPr lang="en-US" sz="1150" b="1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EHR integration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Dialogue Diagnosis to Clinical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pic>
        <p:nvPicPr>
          <p:cNvPr id="5" name="Image 0" descr="/home/claude/ppt/icons/comment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3134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620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916936" y="2834640"/>
            <a:ext cx="246888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200400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pic>
        <p:nvPicPr>
          <p:cNvPr id="9" name="Image 1" descr="/home/claude/ppt/icons/boo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231343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8620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DDx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568696" y="2834640"/>
            <a:ext cx="246888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852160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pic>
        <p:nvPicPr>
          <p:cNvPr id="13" name="Image 2" descr="/home/claude/ppt/icons/sync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420" y="231343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28620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Mgmt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0456" y="2834640"/>
            <a:ext cx="246888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8503920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pic>
        <p:nvPicPr>
          <p:cNvPr id="17" name="Image 3" descr="/home/claude/ppt/icons/project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180" y="231343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0" y="28620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263640" y="3520440"/>
            <a:ext cx="0" cy="50292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1188720" y="4160520"/>
            <a:ext cx="9784080" cy="1783080"/>
          </a:xfrm>
          <a:prstGeom prst="roundRect">
            <a:avLst>
              <a:gd name="adj" fmla="val 5128"/>
            </a:avLst>
          </a:prstGeom>
          <a:solidFill>
            <a:srgbClr val="13294B"/>
          </a:solidFill>
          <a:ln/>
        </p:spPr>
      </p:sp>
      <p:sp>
        <p:nvSpPr>
          <p:cNvPr id="21" name="Text 15"/>
          <p:cNvSpPr/>
          <p:nvPr/>
        </p:nvSpPr>
        <p:spPr>
          <a:xfrm>
            <a:off x="1554480" y="4370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Next: Agentic AI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828800" y="4663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awareness: track a patient's full course of care across multiple visits, not just a single encounter</a:t>
            </a:r>
            <a:endParaRPr lang="en-US" sz="1200" dirty="0"/>
          </a:p>
          <a:p>
            <a:pPr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collaboration: specialized agents for history-taking, imaging, and labs that divide labor and integrate, like a real care team</a:t>
            </a:r>
            <a:endParaRPr lang="en-US" sz="1200" dirty="0"/>
          </a:p>
          <a:p>
            <a:pPr>
              <a:lnSpc>
                <a:spcPct val="115000"/>
              </a:lnSpc>
              <a:buSzPct val="100000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EHR integration: operating and validated within an actual electronic health record platform, not just simulated scenarios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&amp;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Gaps in the Existing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65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420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longitudinal tracking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1272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evaluations are single-encounter dialogues — they can't capture the ongoing, multi-day, multi-visit decision-making that real care requires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2880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ppt/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9659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420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EHR integration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31272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still a gap between simulated environments and real electronic health record systems; data interfacing and two-way feedback loops haven't been established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82880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/home/claude/ppt/icons/hospitalus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9659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5420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localized clinical validation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1040" y="31272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studies are concentrated in North America, Europe, and India; none have been validated in Taiwan's healthcare system and data standards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80760" y="4069080"/>
            <a:ext cx="0" cy="41148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1463040" y="4572000"/>
            <a:ext cx="9235440" cy="1234440"/>
          </a:xfrm>
          <a:prstGeom prst="roundRect">
            <a:avLst>
              <a:gd name="adj" fmla="val 7407"/>
            </a:avLst>
          </a:prstGeom>
          <a:solidFill>
            <a:srgbClr val="13294B"/>
          </a:solidFill>
          <a:ln/>
        </p:spPr>
      </p:sp>
      <p:sp>
        <p:nvSpPr>
          <p:cNvPr id="21" name="Text 16"/>
          <p:cNvSpPr/>
          <p:nvPr/>
        </p:nvSpPr>
        <p:spPr>
          <a:xfrm>
            <a:off x="1828800" y="4572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proposal: build a temporally aware, multi-agent Agentic AI for Taiwan's healthcare setting, and integrate it directly into an EHR platform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RESEARCH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Core Capabilities of Agentic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1122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679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sensing &amp; data gathering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0449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integrates labs, imaging, and vital signs as the clinical course unfolds, rather than passively waiting for data entry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/icons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1122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37960" y="2679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decisions &amp; diagnostic updates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30449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revises prior judgments as new data arrives — the kind of “dynamic care” a clinician practices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ppt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22960" y="49194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loops &amp; continuous learning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2960" y="5285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Refines future judgment based on the outcomes of past recommendations — e.g., how a patient responded after a prescription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6364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37960" y="4206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ppt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35254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537960" y="49194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collaboration &amp; multimodal integration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537960" y="5285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agents own distinct tasks — history-taking, diagnosis, follow-up — and communicate with each other like a care team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RESEARCH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Four Dedicated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pic>
        <p:nvPicPr>
          <p:cNvPr id="5" name="Image 0" descr="/home/claude/ppt/icons/comment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187452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3865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History-Taking Agent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8254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Voice-based interface that guides patients through describing symptoms and their care journey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3756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pic>
        <p:nvPicPr>
          <p:cNvPr id="9" name="Image 1" descr="/home/claude/ppt/icons/heartbea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124" y="187452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3865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ECG Interpretation Agent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74720" y="28254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pretrained ECG AI model that automatically analyzes and interprets cardiac signals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2648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pic>
        <p:nvPicPr>
          <p:cNvPr id="13" name="Image 2" descr="/home/claude/ppt/icons/lun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044" y="187452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3865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X-Ray Agent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63640" y="28254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MeUX imaging dataset, specializing in grading cardiogenic pulmonary edema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91540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pic>
        <p:nvPicPr>
          <p:cNvPr id="17" name="Image 3" descr="/home/claude/ppt/icons/flas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8964" y="187452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865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Data Analysis Agent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052560" y="28254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trends over time in values like troponin, a key cardiac biomarker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4864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Scenario: An ED Patient with Chest Pain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16052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E7F1F4"/>
          </a:solidFill>
          <a:ln/>
        </p:spPr>
      </p:sp>
      <p:sp>
        <p:nvSpPr>
          <p:cNvPr id="22" name="Text 16"/>
          <p:cNvSpPr/>
          <p:nvPr/>
        </p:nvSpPr>
        <p:spPr>
          <a:xfrm>
            <a:off x="640080" y="41605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complaint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542032" y="4777740"/>
            <a:ext cx="16459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2724912" y="416052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E7F1F4"/>
          </a:solidFill>
          <a:ln/>
        </p:spPr>
      </p:sp>
      <p:sp>
        <p:nvSpPr>
          <p:cNvPr id="25" name="Text 19"/>
          <p:cNvSpPr/>
          <p:nvPr/>
        </p:nvSpPr>
        <p:spPr>
          <a:xfrm>
            <a:off x="2816352" y="41605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ECG /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tests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718304" y="4777740"/>
            <a:ext cx="16459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4901184" y="416052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E7F1F4"/>
          </a:solidFill>
          <a:ln/>
        </p:spPr>
      </p:sp>
      <p:sp>
        <p:nvSpPr>
          <p:cNvPr id="28" name="Text 22"/>
          <p:cNvSpPr/>
          <p:nvPr/>
        </p:nvSpPr>
        <p:spPr>
          <a:xfrm>
            <a:off x="4992624" y="41605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&amp; orders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894576" y="4777740"/>
            <a:ext cx="16459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7077456" y="416052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E7F1F4"/>
          </a:solidFill>
          <a:ln/>
        </p:spPr>
      </p:sp>
      <p:sp>
        <p:nvSpPr>
          <p:cNvPr id="31" name="Text 25"/>
          <p:cNvSpPr/>
          <p:nvPr/>
        </p:nvSpPr>
        <p:spPr>
          <a:xfrm>
            <a:off x="7168896" y="41605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results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they return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070848" y="4777740"/>
            <a:ext cx="16459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9253728" y="416052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13294B"/>
          </a:solidFill>
          <a:ln/>
        </p:spPr>
      </p:sp>
      <p:sp>
        <p:nvSpPr>
          <p:cNvPr id="34" name="Text 28"/>
          <p:cNvSpPr/>
          <p:nvPr/>
        </p:nvSpPr>
        <p:spPr>
          <a:xfrm>
            <a:off x="9345168" y="416052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dynamic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input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RESEARCH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with the EHR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ppt/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116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 Core Data for Interoperability (TWCDI)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key data standards set by Taiwan's Ministry of Health and Welfare, aligning EHR formats nationwide to enable cross-hospital interoperability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1" name="Image 1" descr="/home/claude/ppt/icons/hospit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0116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0136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EHR Platform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FHIR data structures and a Kubernetes microservices architecture; modular design (security module + LLM module) supports hot-swappable updates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/home/claude/ppt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519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416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on FHIR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OpenID and OAuth2 so applications can securely access authorized data and run directly on FHIR-based EHR systems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114800"/>
            <a:ext cx="594360" cy="5943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1" name="Image 3" descr="/home/claude/ppt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251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416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Validation Environment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37960" y="48463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AI agents securely connect to and read real clinical data while maintaining security, privacy, and behavior tracking — accelerating testing and iteration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RESEARCH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Four-Year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075688"/>
            <a:ext cx="10149840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19656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344" y="25603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8224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8224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8224" y="335584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 on MIMIC-III/IV for temporal awareness, then manually align &amp; clean NTUH ED chest-pain cases to build a localized gold standard; kick off development of the four agent modules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69080" y="1819656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99232" y="25603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82112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2112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Development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82112" y="335584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development and initial validation of the history-taking, ECG, chest X-ray, and lab-data agent modules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88352" y="1819656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7388352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18504" y="25603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1384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1384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01384" y="335584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integrated validation of the myocardial-infarction agent, package it via SMART on FHIR, and connect to the national digital EHR platform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643616" y="183794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643616" y="1837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454896" y="25603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/>
          <a:effectLst>
            <a:outerShdw blurRad="101600" dist="38100" dir="2700000" algn="bl" rotWithShape="0">
              <a:srgbClr val="13294B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37776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37776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Validation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37776" y="335584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field testing in the sandbox environment, extend to other clinical scenarios; file patents and publish at international conferences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RESEARCH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&amp;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7F1F4"/>
          </a:solidFill>
          <a:ln/>
        </p:spPr>
      </p:sp>
      <p:pic>
        <p:nvPicPr>
          <p:cNvPr id="5" name="Image 0" descr="/home/claude/ppt/icons/bullsey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0930" y="2283968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spcAft>
                <a:spcPts val="1000"/>
              </a:spcAft>
              <a:buSzPct val="100000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Agentic AI system deployable for administrative and care-management workflows</a:t>
            </a:r>
            <a:endParaRPr lang="en-US" sz="1250" dirty="0"/>
          </a:p>
          <a:p>
            <a:pPr>
              <a:lnSpc>
                <a:spcPct val="130000"/>
              </a:lnSpc>
              <a:spcAft>
                <a:spcPts val="1000"/>
              </a:spcAft>
              <a:buSzPct val="100000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professional evaluation and certification, strengthening system trust and usability</a:t>
            </a:r>
            <a:endParaRPr lang="en-US" sz="1250" dirty="0"/>
          </a:p>
          <a:p>
            <a:pPr>
              <a:lnSpc>
                <a:spcPct val="130000"/>
              </a:lnSpc>
              <a:spcAft>
                <a:spcPts val="1000"/>
              </a:spcAft>
              <a:buSzPct val="100000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testing and validation completed in an EHR sandbox environment</a:t>
            </a:r>
            <a:endParaRPr lang="en-US" sz="1250" dirty="0"/>
          </a:p>
          <a:p>
            <a:pPr>
              <a:lnSpc>
                <a:spcPct val="130000"/>
              </a:lnSpc>
              <a:buSzPct val="100000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filings, competition entries, and publications at conferences such as AMIA and HIMSS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6459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BEFE8"/>
          </a:solidFill>
          <a:ln/>
        </p:spPr>
      </p:sp>
      <p:pic>
        <p:nvPicPr>
          <p:cNvPr id="9" name="Image 1" descr="/home/claude/ppt/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Challenges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12280" y="2372106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spcAft>
                <a:spcPts val="1000"/>
              </a:spcAft>
              <a:buSzPct val="100000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EHRs don't capture temporal data clearly enough, which affects data quality and training outcomes</a:t>
            </a:r>
            <a:endParaRPr lang="en-US" sz="1250" dirty="0"/>
          </a:p>
          <a:p>
            <a:pPr>
              <a:lnSpc>
                <a:spcPct val="130000"/>
              </a:lnSpc>
              <a:spcAft>
                <a:spcPts val="1000"/>
              </a:spcAft>
              <a:buSzPct val="100000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testing infrastructure: FHIR-based temporal data extraction and two-way communication still need design work</a:t>
            </a:r>
            <a:endParaRPr lang="en-US" sz="1250" dirty="0"/>
          </a:p>
          <a:p>
            <a:pPr>
              <a:lnSpc>
                <a:spcPct val="130000"/>
              </a:lnSpc>
              <a:buSzPct val="100000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Cross-hospital data-format differences will require sustained effort to drive standards adoption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37960" y="4754880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6720840" y="4754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point: SMART on FHIR today is largely read-only. Our challenge: actively build the two-way “recommend → confirm → write back to orders” standard.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icons/stethoscop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4173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508760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AMIE to Agentic AI — moving conversational diagnosis toward a dynamic, integrated, deployable clinical collaboration system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087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a closed-loop care system — data gathering → dynamic decisions → physician confirmation → outcome feedback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AMIE Research Series &amp; Agentic AI Research Plan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2513</Words>
  <Application>Microsoft Office PowerPoint</Application>
  <PresentationFormat>寬螢幕</PresentationFormat>
  <Paragraphs>287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從對話式診斷AI到臨床代理人AI</dc:title>
  <dc:subject>PptxGenJS Presentation</dc:subject>
  <dc:creator>AMIE Research Review</dc:creator>
  <cp:lastModifiedBy>Peter Huang</cp:lastModifiedBy>
  <cp:revision>3</cp:revision>
  <dcterms:created xsi:type="dcterms:W3CDTF">2026-07-05T12:04:05Z</dcterms:created>
  <dcterms:modified xsi:type="dcterms:W3CDTF">2026-07-05T12:21:41Z</dcterms:modified>
</cp:coreProperties>
</file>